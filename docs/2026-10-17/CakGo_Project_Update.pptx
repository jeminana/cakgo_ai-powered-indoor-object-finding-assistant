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12298a2f0374ff9" /><Relationship Type="http://schemas.openxmlformats.org/officeDocument/2006/relationships/extended-properties" Target="/docProps/app.xml" Id="R4b37ed41bf8c4d92" /><Relationship Type="http://schemas.openxmlformats.org/officeDocument/2006/relationships/officeDocument" Target="/ppt/presentation.xml" Id="R7195cc877ab1484d" /></Relationships>
</file>

<file path=ppt/presentation.xml><?xml version="1.0" encoding="utf-8"?>
<p:presentation xmlns:p="http://schemas.openxmlformats.org/presentationml/2006/main">
  <p:sldMasterIdLst>
    <p:sldMasterId xmlns:r="http://schemas.openxmlformats.org/officeDocument/2006/relationships" id="2147483648" r:id="Rcc05f1bfe2804350"/>
  </p:sldMasterIdLst>
  <p:notesMasterIdLst>
    <p:notesMasterId xmlns:r="http://schemas.openxmlformats.org/officeDocument/2006/relationships" r:id="R4895b154a3b14f9b"/>
  </p:notesMasterIdLst>
  <p:sldIdLst>
    <p:sldId xmlns:r="http://schemas.openxmlformats.org/officeDocument/2006/relationships" id="256" r:id="R464920904f9c4ef5"/>
    <p:sldId xmlns:r="http://schemas.openxmlformats.org/officeDocument/2006/relationships" id="257" r:id="Re8a099566a494785"/>
    <p:sldId xmlns:r="http://schemas.openxmlformats.org/officeDocument/2006/relationships" id="258" r:id="R8a9175202e534ac1"/>
    <p:sldId xmlns:r="http://schemas.openxmlformats.org/officeDocument/2006/relationships" id="259" r:id="R535470bdb0764625"/>
    <p:sldId xmlns:r="http://schemas.openxmlformats.org/officeDocument/2006/relationships" id="260" r:id="R72c9ceca24a145a3"/>
    <p:sldId xmlns:r="http://schemas.openxmlformats.org/officeDocument/2006/relationships" id="261" r:id="Rf80c6131105d4540"/>
    <p:sldId xmlns:r="http://schemas.openxmlformats.org/officeDocument/2006/relationships" id="262" r:id="Ra0e3bbd38d05401a"/>
    <p:sldId xmlns:r="http://schemas.openxmlformats.org/officeDocument/2006/relationships" id="263" r:id="R131cda12d6544572"/>
    <p:sldId xmlns:r="http://schemas.openxmlformats.org/officeDocument/2006/relationships" id="264" r:id="Rf99dab75fcae48a6"/>
    <p:sldId xmlns:r="http://schemas.openxmlformats.org/officeDocument/2006/relationships" id="265" r:id="Re1366fd358f64b74"/>
    <p:sldId xmlns:r="http://schemas.openxmlformats.org/officeDocument/2006/relationships" id="266" r:id="Rc8a6cb892bb241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3778826a074244" /><Relationship Type="http://schemas.openxmlformats.org/officeDocument/2006/relationships/slideMaster" Target="/ppt/slideMasters/slideMaster1.xml" Id="Rcc05f1bfe2804350" /><Relationship Type="http://schemas.openxmlformats.org/officeDocument/2006/relationships/notesMaster" Target="/ppt/notesMasters/notesMaster1.xml" Id="R4895b154a3b14f9b" /><Relationship Type="http://schemas.openxmlformats.org/officeDocument/2006/relationships/presProps" Target="/ppt/presProps.xml" Id="R21d8b945409247d4" /><Relationship Type="http://schemas.openxmlformats.org/officeDocument/2006/relationships/tableStyles" Target="/ppt/tableStyles.xml" Id="R181baa4ca03248e6" /><Relationship Type="http://schemas.openxmlformats.org/officeDocument/2006/relationships/slide" Target="/ppt/slides/slide1.xml" Id="R464920904f9c4ef5" /><Relationship Type="http://schemas.openxmlformats.org/officeDocument/2006/relationships/slide" Target="/ppt/slides/slide2.xml" Id="Re8a099566a494785" /><Relationship Type="http://schemas.openxmlformats.org/officeDocument/2006/relationships/slide" Target="/ppt/slides/slide3.xml" Id="R8a9175202e534ac1" /><Relationship Type="http://schemas.openxmlformats.org/officeDocument/2006/relationships/slide" Target="/ppt/slides/slide4.xml" Id="R535470bdb0764625" /><Relationship Type="http://schemas.openxmlformats.org/officeDocument/2006/relationships/slide" Target="/ppt/slides/slide5.xml" Id="R72c9ceca24a145a3" /><Relationship Type="http://schemas.openxmlformats.org/officeDocument/2006/relationships/slide" Target="/ppt/slides/slide6.xml" Id="Rf80c6131105d4540" /><Relationship Type="http://schemas.openxmlformats.org/officeDocument/2006/relationships/slide" Target="/ppt/slides/slide7.xml" Id="Ra0e3bbd38d05401a" /><Relationship Type="http://schemas.openxmlformats.org/officeDocument/2006/relationships/slide" Target="/ppt/slides/slide8.xml" Id="R131cda12d6544572" /><Relationship Type="http://schemas.openxmlformats.org/officeDocument/2006/relationships/slide" Target="/ppt/slides/slide9.xml" Id="Rf99dab75fcae48a6" /><Relationship Type="http://schemas.openxmlformats.org/officeDocument/2006/relationships/slide" Target="/ppt/slides/slide10.xml" Id="Re1366fd358f64b74" /><Relationship Type="http://schemas.openxmlformats.org/officeDocument/2006/relationships/slide" Target="/ppt/slides/slide11.xml" Id="Rc8a6cb892bb241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dd0798b2024c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00e944e8004f95" /><Relationship Type="http://schemas.openxmlformats.org/officeDocument/2006/relationships/notesMaster" Target="/ppt/notesMasters/notesMaster1.xml" Id="Rd6a08b0360ed44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39cd03284845c1" /><Relationship Type="http://schemas.openxmlformats.org/officeDocument/2006/relationships/notesMaster" Target="/ppt/notesMasters/notesMaster1.xml" Id="R7d13f4d81e7f4c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e2ce7ce9394523" /><Relationship Type="http://schemas.openxmlformats.org/officeDocument/2006/relationships/notesMaster" Target="/ppt/notesMasters/notesMaster1.xml" Id="Raf7693b4adbc4e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58cb51b8f44174" /><Relationship Type="http://schemas.openxmlformats.org/officeDocument/2006/relationships/notesMaster" Target="/ppt/notesMasters/notesMaster1.xml" Id="R5652a7d697b343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956eb40c6a4766" /><Relationship Type="http://schemas.openxmlformats.org/officeDocument/2006/relationships/notesMaster" Target="/ppt/notesMasters/notesMaster1.xml" Id="R3ae5fd5e8db54f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eeaafa6ed44434" /><Relationship Type="http://schemas.openxmlformats.org/officeDocument/2006/relationships/notesMaster" Target="/ppt/notesMasters/notesMaster1.xml" Id="Rd3b149c55b8641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040f4e93724401" /><Relationship Type="http://schemas.openxmlformats.org/officeDocument/2006/relationships/notesMaster" Target="/ppt/notesMasters/notesMaster1.xml" Id="Rbbc890f6522441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863ad86d7c4c21" /><Relationship Type="http://schemas.openxmlformats.org/officeDocument/2006/relationships/notesMaster" Target="/ppt/notesMasters/notesMaster1.xml" Id="Rc67a923183b04c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dcc6d59caf4c68" /><Relationship Type="http://schemas.openxmlformats.org/officeDocument/2006/relationships/notesMaster" Target="/ppt/notesMasters/notesMaster1.xml" Id="Ra73002a64d1e4e9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b36e3f8f30455b" /><Relationship Type="http://schemas.openxmlformats.org/officeDocument/2006/relationships/notesMaster" Target="/ppt/notesMasters/notesMaster1.xml" Id="R2f1c45b25ccf41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4bc4ef131349bd" /><Relationship Type="http://schemas.openxmlformats.org/officeDocument/2006/relationships/notesMaster" Target="/ppt/notesMasters/notesMaster1.xml" Id="R8bf7d237947448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CakGo is an accessibility-focused prototype. This update separates implemented code, benchmark findings and validation still pending. Source: https://github.com/Jeminana/CakGo_AI-powered-indoor-object-finding-assistant/blob/c3a4356a875bc4b41b052a4148cbd98133aa77b3/README.md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Intended benefit has not yet been validated with users. The system finds visible objects, not objects hidden completely or physical distances.</a:t>
            </a:r>
          </a:p>
          <a:p xmlns:a="http://schemas.openxmlformats.org/drawingml/2006/main">
            <a:r>
              <a:t/>
            </a:r>
          </a:p>
          <a:p xmlns:a="http://schemas.openxmlformats.org/drawingml/2006/main">
            <a:r>
              <a:t>Sources:</a:t>
            </a:r>
          </a:p>
          <a:p xmlns:a="http://schemas.openxmlformats.org/drawingml/2006/main">
            <a:r>
              <a:t>https://github.com/Jeminana/CakGo_AI-powered-indoor-object-finding-assistant/blob/c3a4356a875bc4b41b052a4148cbd98133aa77b3/README.md</a:t>
            </a:r>
          </a:p>
          <a:p xmlns:a="http://schemas.openxmlformats.org/drawingml/2006/main">
            <a:r>
              <a:t>https://github.com/Jeminana/CakGo_AI-powered-indoor-object-finding-assistant/blob/c3a4356a875bc4b41b052a4148cbd98133aa77b3/docs/API_CONTRACT.md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uses the box horizontal center divided by original image width. The backend guides to the highest-confidence match and returns all matching boxes. Speech wiring is in PR #8.</a:t>
            </a:r>
          </a:p>
          <a:p xmlns:a="http://schemas.openxmlformats.org/drawingml/2006/main">
            <a:r>
              <a:t/>
            </a:r>
          </a:p>
          <a:p xmlns:a="http://schemas.openxmlformats.org/drawingml/2006/main">
            <a:r>
              <a:t>Sources:</a:t>
            </a:r>
          </a:p>
          <a:p xmlns:a="http://schemas.openxmlformats.org/drawingml/2006/main">
            <a:r>
              <a:t>https://github.com/Jeminana/CakGo_AI-powered-indoor-object-finding-assistant/blob/c3a4356a875bc4b41b052a4148cbd98133aa77b3/docs/API_CONTRACT.md</a:t>
            </a:r>
          </a:p>
          <a:p xmlns:a="http://schemas.openxmlformats.org/drawingml/2006/main">
            <a:r>
              <a:t>https://github.com/Jeminana/CakGo_AI-powered-indoor-object-finding-assistant/blob/c3a4356a875bc4b41b052a4148cbd98133aa77b3/backend/app.py</a:t>
            </a:r>
          </a:p>
          <a:p xmlns:a="http://schemas.openxmlformats.org/drawingml/2006/main">
            <a:r>
              <a:t>https://github.com/Jeminana/CakGo_AI-powered-indoor-object-finding-assistant/pull/8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supplied this round of ownership: Najmi YOLO, Kim Cheolyeon frontend connection, Ogam DINO/voice integration, Sang Xingyu documentation. PR #8 was open when inspected. Coordinator reports success, but phone acceptance has no recorded evidence here.</a:t>
            </a:r>
          </a:p>
          <a:p xmlns:a="http://schemas.openxmlformats.org/drawingml/2006/main">
            <a:r>
              <a:t/>
            </a:r>
          </a:p>
          <a:p xmlns:a="http://schemas.openxmlformats.org/drawingml/2006/main">
            <a:r>
              <a:t>Sources:</a:t>
            </a:r>
          </a:p>
          <a:p xmlns:a="http://schemas.openxmlformats.org/drawingml/2006/main">
            <a:r>
              <a:t>https://github.com/Jeminana/CakGo_AI-powered-indoor-object-finding-assistant/pull/7</a:t>
            </a:r>
          </a:p>
          <a:p xmlns:a="http://schemas.openxmlformats.org/drawingml/2006/main">
            <a:r>
              <a:t>https://github.com/Jeminana/CakGo_AI-powered-indoor-object-finding-assistant/pull/5</a:t>
            </a:r>
          </a:p>
          <a:p xmlns:a="http://schemas.openxmlformats.org/drawingml/2006/main">
            <a:r>
              <a:t>https://github.com/Jeminana/CakGo_AI-powered-indoor-object-finding-assistant/pull/6</a:t>
            </a:r>
          </a:p>
          <a:p xmlns:a="http://schemas.openxmlformats.org/drawingml/2006/main">
            <a:r>
              <a:t>https://github.com/Jeminana/CakGo_AI-powered-indoor-object-finding-assistant/pull/8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remote control is supported by COCO-pretrained YOLO among the four targets. Unsupported categories are not scored as zero. The YOLO baseline is a reference run made by the DINO evaluator on the same VM. Precision and recall are at different model operating thresholds.</a:t>
            </a:r>
          </a:p>
          <a:p xmlns:a="http://schemas.openxmlformats.org/drawingml/2006/main">
            <a:r>
              <a:t/>
            </a:r>
          </a:p>
          <a:p xmlns:a="http://schemas.openxmlformats.org/drawingml/2006/main">
            <a:r>
              <a:t>Sources:</a:t>
            </a:r>
          </a:p>
          <a:p xmlns:a="http://schemas.openxmlformats.org/drawingml/2006/main">
            <a:r>
              <a:t>https://github.com/Jeminana/CakGo_AI-powered-indoor-object-finding-assistant/blob/c3a4356a875bc4b41b052a4148cbd98133aa77b3/tests/results/model_comparison_report.md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come from metrics_conf0.25.json of the low-confidence inference run, not generic metrics.json, which reports confidence 0.5. Mean AP50 is computed across four class AP50 values. AP50 is not mAP@0.5:0.95. All values describe the existing 70-image source-dataset evaluation.</a:t>
            </a:r>
          </a:p>
          <a:p xmlns:a="http://schemas.openxmlformats.org/drawingml/2006/main">
            <a:r>
              <a:t/>
            </a:r>
          </a:p>
          <a:p xmlns:a="http://schemas.openxmlformats.org/drawingml/2006/main">
            <a:r>
              <a:t>Sources:</a:t>
            </a:r>
          </a:p>
          <a:p xmlns:a="http://schemas.openxmlformats.org/drawingml/2006/main">
            <a:r>
              <a:t>https://github.com/Jeminana/CakGo_AI-powered-indoor-object-finding-assistant/blob/c3a4356a875bc4b41b052a4148cbd98133aa77b3/detection/experiments/yolo/results/ft_yolo26s_cakgo4_v1_conf0.001/metrics_conf0.25.json</a:t>
            </a:r>
          </a:p>
          <a:p xmlns:a="http://schemas.openxmlformats.org/drawingml/2006/main">
            <a:r>
              <a:t>https://github.com/Jeminana/CakGo_AI-powered-indoor-object-finding-assistant/blob/c3a4356a875bc4b41b052a4148cbd98133aa77b3/detection/experiments/yolo/training_runs/yolo26s_cakgo4_v1/training_info.json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are images with any false positive for the requested class. Different operating thresholds are explicit. Zero out of ten for fine-tuned YOLO does not establish zero false alarms in real scenes. Speech cooldown limits repetition, not recognition errors.</a:t>
            </a:r>
          </a:p>
          <a:p xmlns:a="http://schemas.openxmlformats.org/drawingml/2006/main">
            <a:r>
              <a:t/>
            </a:r>
          </a:p>
          <a:p xmlns:a="http://schemas.openxmlformats.org/drawingml/2006/main">
            <a:r>
              <a:t>Sources:</a:t>
            </a:r>
          </a:p>
          <a:p xmlns:a="http://schemas.openxmlformats.org/drawingml/2006/main">
            <a:r>
              <a:t>https://github.com/Jeminana/CakGo_AI-powered-indoor-object-finding-assistant/blob/c3a4356a875bc4b41b052a4148cbd98133aa77b3/detection/experiments/yolo/results/ft_yolo26s_cakgo4_v1_conf0.001/metrics_conf0.25.json</a:t>
            </a:r>
          </a:p>
          <a:p xmlns:a="http://schemas.openxmlformats.org/drawingml/2006/main">
            <a:r>
              <a:t>https://github.com/Jeminana/CakGo_AI-powered-indoor-object-finding-assistant/blob/c3a4356a875bc4b41b052a4148cbd98133aa77b3/detection/experiments/grounding_dino/results/t4_gdino-tiny_box0.05/metrics.json</a:t>
            </a:r>
          </a:p>
          <a:p xmlns:a="http://schemas.openxmlformats.org/drawingml/2006/main">
            <a:r>
              <a:t>https://github.com/Jeminana/CakGo_AI-powered-indoor-object-finding-assistant/blob/c3a4356a875bc4b41b052a4148cbd98133aa77b3/tests/results/model_comparison_report.md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T4 baseline is a matched comparison, about 21.9 times DINO/YOLO request time. Fine-tuned YOLO ran on an RTX 4050 laptop and cannot support a direct speed ratio versus T4 DINO. Warmed-up model-call timings exclude file reading and camera, network and speech overhead.</a:t>
            </a:r>
          </a:p>
          <a:p xmlns:a="http://schemas.openxmlformats.org/drawingml/2006/main">
            <a:r>
              <a:t/>
            </a:r>
          </a:p>
          <a:p xmlns:a="http://schemas.openxmlformats.org/drawingml/2006/main">
            <a:r>
              <a:t>Sources:</a:t>
            </a:r>
          </a:p>
          <a:p xmlns:a="http://schemas.openxmlformats.org/drawingml/2006/main">
            <a:r>
              <a:t>https://github.com/Jeminana/CakGo_AI-powered-indoor-object-finding-assistant/blob/c3a4356a875bc4b41b052a4148cbd98133aa77b3/tests/results/model_comparison_report.md</a:t>
            </a:r>
          </a:p>
          <a:p xmlns:a="http://schemas.openxmlformats.org/drawingml/2006/main">
            <a:r>
              <a:t>https://github.com/Jeminana/CakGo_AI-powered-indoor-object-finding-assistant/blob/c3a4356a875bc4b41b052a4148cbd98133aa77b3/detection/experiments/yolo/results/ft_yolo26s_cakgo4_v1_conf0.25/run_info.json</a:t>
            </a:r>
          </a:p>
          <a:p xmlns:a="http://schemas.openxmlformats.org/drawingml/2006/main">
            <a:r>
              <a:t>https://github.com/Jeminana/CakGo_AI-powered-indoor-object-finding-assistant/blob/c3a4356a875bc4b41b052a4148cbd98133aa77b3/detection/experiments/yolo/results/ft_yolo26s_cakgo4_v1_conf0.25/metrics.json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team collection instructions supplied on 17 October, due 19 October. The photos are planned, not confirmed uploaded. Three collectors each take six photos per category plus four none scenes. Two item designs per person, ideally six per category across the team. No training or tuning on the final test collection.</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voice due 18 October. Photo collection due 19 October. Final model and thresholds require evidence and a team decision. Repeat timing on the same deployment machine. Maintain separate validation data for threshold selection.</a:t>
            </a:r>
          </a:p>
          <a:p xmlns:a="http://schemas.openxmlformats.org/drawingml/2006/main">
            <a:r>
              <a:t/>
            </a:r>
          </a:p>
          <a:p xmlns:a="http://schemas.openxmlformats.org/drawingml/2006/main">
            <a:r>
              <a:t>Sources:</a:t>
            </a:r>
          </a:p>
          <a:p xmlns:a="http://schemas.openxmlformats.org/drawingml/2006/main">
            <a:r>
              <a:t>https://github.com/Jeminana/CakGo_AI-powered-indoor-object-finding-assistant/pull/8</a:t>
            </a:r>
          </a:p>
          <a:p xmlns:a="http://schemas.openxmlformats.org/drawingml/2006/main">
            <a:r>
              <a:t>https://github.com/Jeminana/CakGo_AI-powered-indoor-object-finding-assistant/blob/c3a4356a875bc4b41b052a4148cbd98133aa77b3/tests/results/model_comparison_report.md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original results.png from the 60-epoch fine-tuning run. It shows training and validation metrics, not held-out phone-test outcomes. The training set contains 6514 images after filtering and validation 1536. The test images and duplicates are removed by the preparation script.</a:t>
            </a:r>
          </a:p>
          <a:p xmlns:a="http://schemas.openxmlformats.org/drawingml/2006/main">
            <a:r>
              <a:t/>
            </a:r>
          </a:p>
          <a:p xmlns:a="http://schemas.openxmlformats.org/drawingml/2006/main">
            <a:r>
              <a:t>Sources:</a:t>
            </a:r>
          </a:p>
          <a:p xmlns:a="http://schemas.openxmlformats.org/drawingml/2006/main">
            <a:r>
              <a:t>https://github.com/Jeminana/CakGo_AI-powered-indoor-object-finding-assistant/blob/c3a4356a875bc4b41b052a4148cbd98133aa77b3/detection/experiments/yolo/training_runs/yolo26s_cakgo4_v1/results.png</a:t>
            </a:r>
          </a:p>
          <a:p xmlns:a="http://schemas.openxmlformats.org/drawingml/2006/main">
            <a:r>
              <a:t>https://github.com/Jeminana/CakGo_AI-powered-indoor-object-finding-assistant/blob/c3a4356a875bc4b41b052a4148cbd98133aa77b3/detection/experiments/yolo/training_runs/yolo26s_cakgo4_v1/training_info.json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47c3b7eb4a4e0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8f1083365845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501740f401444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c34c5a6d9b43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cab7c098ad4f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b94f32dc8994d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48AE7F-D9D6-4349-8750-54331F973A0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FE130F-6726-4D31-8A3F-3D7B600A2B6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CACE65E-3E85-4EEC-8A31-63C5BA64520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3D463F-DE0F-40B7-9D3A-D2CACF9E43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CD5AFA2-6406-4EBF-AFE0-9AB5768FFEF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C3A414A-640C-41D5-BE95-E33A42C8B4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4A4C08-E0CA-476C-A8BC-65C7169454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DEDB21-460F-42B0-9EAE-498384F69D0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F3DE84-143D-41A9-B164-E529E43A1C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21D1AF-79C3-443A-AE1A-66C3AB6D20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50708818854501" /><Relationship Type="http://schemas.openxmlformats.org/officeDocument/2006/relationships/slideLayout" Target="/ppt/slideLayouts/slideLayout1.xml" Id="R0ebf920f889243d2" /><Relationship Type="http://schemas.openxmlformats.org/officeDocument/2006/relationships/slideLayout" Target="/ppt/slideLayouts/slideLayout2.xml" Id="Ra68e5f4f3bb14e25" /><Relationship Type="http://schemas.openxmlformats.org/officeDocument/2006/relationships/slideLayout" Target="/ppt/slideLayouts/slideLayout3.xml" Id="R85218d00003e4e62" /><Relationship Type="http://schemas.openxmlformats.org/officeDocument/2006/relationships/slideLayout" Target="/ppt/slideLayouts/slideLayout4.xml" Id="R1b3682b749454c3c" /><Relationship Type="http://schemas.openxmlformats.org/officeDocument/2006/relationships/slideLayout" Target="/ppt/slideLayouts/slideLayout5.xml" Id="Rd85e0567f3404775" /><Relationship Type="http://schemas.openxmlformats.org/officeDocument/2006/relationships/slideLayout" Target="/ppt/slideLayouts/slideLayout6.xml" Id="R5e3aecb502cf4c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bf920f889243d2"/>
    <p:sldLayoutId xmlns:r="http://schemas.openxmlformats.org/officeDocument/2006/relationships" id="2147483650" r:id="Ra68e5f4f3bb14e25"/>
    <p:sldLayoutId xmlns:r="http://schemas.openxmlformats.org/officeDocument/2006/relationships" id="2147483651" r:id="R85218d00003e4e62"/>
    <p:sldLayoutId xmlns:r="http://schemas.openxmlformats.org/officeDocument/2006/relationships" id="2147483652" r:id="R1b3682b749454c3c"/>
    <p:sldLayoutId xmlns:r="http://schemas.openxmlformats.org/officeDocument/2006/relationships" id="2147483653" r:id="Rd85e0567f3404775"/>
    <p:sldLayoutId xmlns:r="http://schemas.openxmlformats.org/officeDocument/2006/relationships" id="2147483654" r:id="R5e3aecb502cf4c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5eaeb9938a4a35" /><Relationship Type="http://schemas.openxmlformats.org/officeDocument/2006/relationships/notesSlide" Target="/ppt/notesSlides/notesSlide1.xml" Id="R16a4a05db30545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6001565ab784592" /><Relationship Type="http://schemas.openxmlformats.org/officeDocument/2006/relationships/notesSlide" Target="/ppt/notesSlides/notesSlide2.xml" Id="R8b0a6040377c43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71705cbde634c18" /><Relationship Type="http://schemas.openxmlformats.org/officeDocument/2006/relationships/notesSlide" Target="/ppt/notesSlides/notesSlide3.xml" Id="R2c6d079342c348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5832122d5b14678" /><Relationship Type="http://schemas.openxmlformats.org/officeDocument/2006/relationships/notesSlide" Target="/ppt/notesSlides/notesSlide4.xml" Id="R739c05480aa542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52b0c5e3f7f434b" /><Relationship Type="http://schemas.openxmlformats.org/officeDocument/2006/relationships/notesSlide" Target="/ppt/notesSlides/notesSlide5.xml" Id="R4853c3e8120147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d8342787dfb477f" /><Relationship Type="http://schemas.openxmlformats.org/officeDocument/2006/relationships/notesSlide" Target="/ppt/notesSlides/notesSlide6.xml" Id="Rbe5fccc7925a42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15c38b7d4aa4c1b" /><Relationship Type="http://schemas.openxmlformats.org/officeDocument/2006/relationships/chart" Target="/ppt/slides/charts/chart1.xml" Id="R091314272ab543b6" /><Relationship Type="http://schemas.openxmlformats.org/officeDocument/2006/relationships/notesSlide" Target="/ppt/notesSlides/notesSlide7.xml" Id="Ra807d84522da4b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566713662874fd3" /><Relationship Type="http://schemas.openxmlformats.org/officeDocument/2006/relationships/notesSlide" Target="/ppt/notesSlides/notesSlide8.xml" Id="R30b57844506e47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04f163216334e1f" /><Relationship Type="http://schemas.openxmlformats.org/officeDocument/2006/relationships/notesSlide" Target="/ppt/notesSlides/notesSlide9.xml" Id="R0f09be0d806b41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2ade784a643410f" /><Relationship Type="http://schemas.openxmlformats.org/officeDocument/2006/relationships/notesSlide" Target="/ppt/notesSlides/notesSlide10.xml" Id="Rd237f7231e1748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aded0d40d004614" /><Relationship Type="http://schemas.openxmlformats.org/officeDocument/2006/relationships/image" Target="/ppt/media/image.png" Id="Rd57b6c506fcb4a07" /><Relationship Type="http://schemas.openxmlformats.org/officeDocument/2006/relationships/notesSlide" Target="/ppt/notesSlides/notesSlide11.xml" Id="Rb52ab0c277c4420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DINO, confidence 0.35</c:v>
          </c:tx>
          <c:spPr>
            <a:solidFill xmlns:a="http://schemas.openxmlformats.org/drawingml/2006/main">
              <a:srgbClr val="007C83"/>
            </a:solidFill>
          </c:spPr>
          <c:invertIfNegative val="0"/>
          <c:cat>
            <c:strRef>
              <c:f>'Chart Data'!$A$2:$A$5</c:f>
              <c:strCache>
                <c:ptCount val="4"/>
                <c:pt idx="0">
                  <c:v>Wallet</c:v>
                </c:pt>
                <c:pt idx="1">
                  <c:v>Keys</c:v>
                </c:pt>
                <c:pt idx="2">
                  <c:v>Glasses</c:v>
                </c:pt>
                <c:pt idx="3">
                  <c:v>Remote</c:v>
                </c:pt>
              </c:strCache>
            </c:strRef>
          </c:cat>
          <c:val>
            <c:numRef>
              <c:f>'Chart Data'!$B$2:$B$5</c:f>
              <c:numCache>
                <c:formatCode>General</c:formatCode>
                <c:ptCount val="4"/>
                <c:pt idx="0">
                  <c:v>4</c:v>
                </c:pt>
                <c:pt idx="1">
                  <c:v>9</c:v>
                </c:pt>
                <c:pt idx="2">
                  <c:v>6</c:v>
                </c:pt>
                <c:pt idx="3">
                  <c:v>9</c:v>
                </c:pt>
              </c:numCache>
            </c:numRef>
          </c:val>
        </c:ser>
        <c:ser>
          <c:idx val="1"/>
          <c:order val="1"/>
          <c:tx>
            <c:v>Fine-tuned YOLO, confidence 0.25</c:v>
          </c:tx>
          <c:spPr>
            <a:solidFill xmlns:a="http://schemas.openxmlformats.org/drawingml/2006/main">
              <a:srgbClr val="DE9B3C"/>
            </a:solidFill>
          </c:spPr>
          <c:invertIfNegative val="0"/>
          <c:cat>
            <c:strRef>
              <c:f>'Chart Data'!$C$2:$C$5</c:f>
              <c:strCache>
                <c:ptCount val="4"/>
                <c:pt idx="0">
                  <c:v>Wallet</c:v>
                </c:pt>
                <c:pt idx="1">
                  <c:v>Keys</c:v>
                </c:pt>
                <c:pt idx="2">
                  <c:v>Glasses</c:v>
                </c:pt>
                <c:pt idx="3">
                  <c:v>Remote</c:v>
                </c:pt>
              </c:strCache>
            </c:strRef>
          </c:cat>
          <c:val>
            <c:numRef>
              <c:f>'Chart Data'!$D$2:$D$5</c:f>
              <c:numCache>
                <c:formatCode>General</c:formatCode>
                <c:ptCount val="4"/>
                <c:pt idx="0">
                  <c:v>0</c:v>
                </c:pt>
                <c:pt idx="1">
                  <c:v>0</c:v>
                </c:pt>
                <c:pt idx="2">
                  <c:v>0</c:v>
                </c:pt>
                <c:pt idx="3">
                  <c:v>0</c:v>
                </c:pt>
              </c:numCache>
            </c:numRef>
          </c:val>
        </c:ser>
        <c:dLbls>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majorUnit val="2"/>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B4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7880444-21FE-45D4-9E97-9F93AF7010CB}"/>
              </a:ext>
            </a:extLst>
          </p:cNvPr>
          <p:cNvSpPr>
            <a:spLocks xmlns:a="http://schemas.openxmlformats.org/drawingml/2006/main" noGrp="1"/>
          </p:cNvSpPr>
          <p:nvPr/>
        </p:nvSpPr>
        <p:spPr>
          <a:xfrm xmlns:a="http://schemas.openxmlformats.org/drawingml/2006/main">
            <a:off x="685800" y="160020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200" b="1">
                <a:solidFill>
                  <a:srgbClr val="FFFFFF"/>
                </a:solidFill>
                <a:latin typeface="Helvetica Neue"/>
                <a:ea typeface="Helvetica Neue"/>
                <a:cs typeface="Helvetica Neue"/>
              </a:defRPr>
            </a:defPPr>
          </a:lstStyle>
          <a:p xmlns:a="http://schemas.openxmlformats.org/drawingml/2006/main">
            <a:pPr>
              <a:defRPr sz="7200" b="1">
                <a:solidFill>
                  <a:srgbClr val="FFFFFF"/>
                </a:solidFill>
                <a:latin typeface="Helvetica Neue"/>
                <a:ea typeface="Helvetica Neue"/>
                <a:cs typeface="Helvetica Neue"/>
              </a:defRPr>
            </a:pPr>
            <a:r>
              <a:rPr sz="7200" b="1">
                <a:solidFill>
                  <a:srgbClr val="FFFFFF"/>
                </a:solidFill>
                <a:latin typeface="Helvetica Neue"/>
                <a:ea typeface="Helvetica Neue"/>
                <a:cs typeface="Helvetica Neue"/>
              </a:rPr>
              <a:t>CakGo</a:t>
            </a:r>
          </a:p>
        </p:txBody>
      </p:sp>
      <p:sp>
        <p:nvSpPr>
          <p:cNvPr id="2" name="">
            <a:extLst xmlns:a="http://schemas.openxmlformats.org/drawingml/2006/main">
              <a:ext uri="{FF2B5EF4-FFF2-40B4-BE49-F238E27FC236}">
                <a16:creationId xmlns:a16="http://schemas.microsoft.com/office/drawing/2014/main" id="{6C979842-25AB-4D2F-AD53-6ACF0189FB64}"/>
              </a:ext>
            </a:extLst>
          </p:cNvPr>
          <p:cNvSpPr>
            <a:spLocks xmlns:a="http://schemas.openxmlformats.org/drawingml/2006/main" noGrp="1"/>
          </p:cNvSpPr>
          <p:nvPr/>
        </p:nvSpPr>
        <p:spPr>
          <a:xfrm xmlns:a="http://schemas.openxmlformats.org/drawingml/2006/main">
            <a:off x="742950" y="304800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D6EDF0"/>
                </a:solidFill>
                <a:latin typeface="Helvetica Neue"/>
                <a:ea typeface="Helvetica Neue"/>
                <a:cs typeface="Helvetica Neue"/>
              </a:defRPr>
            </a:defPPr>
          </a:lstStyle>
          <a:p xmlns:a="http://schemas.openxmlformats.org/drawingml/2006/main">
            <a:pPr>
              <a:defRPr sz="2775" b="0">
                <a:solidFill>
                  <a:srgbClr val="D6EDF0"/>
                </a:solidFill>
                <a:latin typeface="Helvetica Neue"/>
                <a:ea typeface="Helvetica Neue"/>
                <a:cs typeface="Helvetica Neue"/>
              </a:defRPr>
            </a:pPr>
            <a:r>
              <a:rPr sz="2775" b="0">
                <a:solidFill>
                  <a:srgbClr val="D6EDF0"/>
                </a:solidFill>
                <a:latin typeface="Helvetica Neue"/>
                <a:ea typeface="Helvetica Neue"/>
                <a:cs typeface="Helvetica Neue"/>
              </a:rPr>
              <a:t>Finding everyday objects with a phone camera</a:t>
            </a:r>
          </a:p>
          <a:p xmlns:a="http://schemas.openxmlformats.org/drawingml/2006/main">
            <a:pPr>
              <a:defRPr sz="2775" b="0">
                <a:solidFill>
                  <a:srgbClr val="D6EDF0"/>
                </a:solidFill>
                <a:latin typeface="Helvetica Neue"/>
                <a:ea typeface="Helvetica Neue"/>
                <a:cs typeface="Helvetica Neue"/>
              </a:defRPr>
            </a:pPr>
            <a:r>
              <a:rPr sz="2775" b="0">
                <a:solidFill>
                  <a:srgbClr val="D6EDF0"/>
                </a:solidFill>
                <a:latin typeface="Helvetica Neue"/>
                <a:ea typeface="Helvetica Neue"/>
                <a:cs typeface="Helvetica Neue"/>
              </a:rPr>
              <a:t>and Korean voice guidance</a:t>
            </a:r>
          </a:p>
        </p:txBody>
      </p:sp>
      <p:sp>
        <p:nvSpPr>
          <p:cNvPr id="3" name="">
            <a:extLst xmlns:a="http://schemas.openxmlformats.org/drawingml/2006/main">
              <a:ext uri="{FF2B5EF4-FFF2-40B4-BE49-F238E27FC236}">
                <a16:creationId xmlns:a16="http://schemas.microsoft.com/office/drawing/2014/main" id="{D7BE7141-B544-4539-AC83-86A5AE65CF85}"/>
              </a:ext>
            </a:extLst>
          </p:cNvPr>
          <p:cNvSpPr>
            <a:spLocks xmlns:a="http://schemas.openxmlformats.org/drawingml/2006/main" noGrp="1"/>
          </p:cNvSpPr>
          <p:nvPr/>
        </p:nvSpPr>
        <p:spPr>
          <a:xfrm xmlns:a="http://schemas.openxmlformats.org/drawingml/2006/main">
            <a:off x="742950" y="4914900"/>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Helvetica Neue"/>
                <a:ea typeface="Helvetica Neue"/>
                <a:cs typeface="Helvetica Neue"/>
              </a:defRPr>
            </a:defPPr>
          </a:lstStyle>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Project progress and model results</a:t>
            </a:r>
          </a:p>
        </p:txBody>
      </p:sp>
      <p:sp>
        <p:nvSpPr>
          <p:cNvPr id="4" name="">
            <a:extLst xmlns:a="http://schemas.openxmlformats.org/drawingml/2006/main">
              <a:ext uri="{FF2B5EF4-FFF2-40B4-BE49-F238E27FC236}">
                <a16:creationId xmlns:a16="http://schemas.microsoft.com/office/drawing/2014/main" id="{7C6A27FA-49B4-49AB-82E3-6CEF069C7B21}"/>
              </a:ext>
            </a:extLst>
          </p:cNvPr>
          <p:cNvSpPr>
            <a:spLocks xmlns:a="http://schemas.openxmlformats.org/drawingml/2006/main" noGrp="1"/>
          </p:cNvSpPr>
          <p:nvPr/>
        </p:nvSpPr>
        <p:spPr>
          <a:xfrm xmlns:a="http://schemas.openxmlformats.org/drawingml/2006/main">
            <a:off x="742950" y="59245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6EDF0"/>
                </a:solidFill>
                <a:latin typeface="Helvetica Neue"/>
                <a:ea typeface="Helvetica Neue"/>
                <a:cs typeface="Helvetica Neue"/>
              </a:defRPr>
            </a:defPPr>
          </a:lstStyle>
          <a:p xmlns:a="http://schemas.openxmlformats.org/drawingml/2006/main">
            <a:pPr>
              <a:defRPr sz="1650" b="0">
                <a:solidFill>
                  <a:srgbClr val="D6EDF0"/>
                </a:solidFill>
                <a:latin typeface="Helvetica Neue"/>
                <a:ea typeface="Helvetica Neue"/>
                <a:cs typeface="Helvetica Neue"/>
              </a:defRPr>
            </a:pPr>
            <a:r>
              <a:rPr sz="1650" b="0">
                <a:solidFill>
                  <a:srgbClr val="D6EDF0"/>
                </a:solidFill>
                <a:latin typeface="Helvetica Neue"/>
                <a:ea typeface="Helvetica Neue"/>
                <a:cs typeface="Helvetica Neue"/>
              </a:rPr>
              <a:t>17 October 2026   /   Documentation: Thehxliday68</a:t>
            </a:r>
          </a:p>
        </p:txBody>
      </p:sp>
    </p:spTree>
    <p:extLst>
      <p:ext uri="{BB962C8B-B14F-4D97-AF65-F5344CB8AC3E}">
        <p14:creationId xmlns:p14="http://schemas.microsoft.com/office/powerpoint/2010/main" val="5344603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0852DF-5C7C-41FE-BD18-417134B38A48}"/>
              </a:ext>
            </a:extLst>
          </p:cNvPr>
          <p:cNvSpPr>
            <a:spLocks xmlns:a="http://schemas.openxmlformats.org/drawingml/2006/main" noGrp="1"/>
          </p:cNvSpPr>
          <p:nvPr/>
        </p:nvSpPr>
        <p:spPr>
          <a:xfrm xmlns:a="http://schemas.openxmlformats.org/drawingml/2006/main">
            <a:off x="609600" y="400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0"/>
                </a:solidFill>
                <a:latin typeface="Helvetica Neue"/>
                <a:ea typeface="Helvetica Neue"/>
                <a:cs typeface="Helvetica Neue"/>
              </a:defRPr>
            </a:defPPr>
          </a:lstStyle>
          <a:p xmlns:a="http://schemas.openxmlformats.org/drawingml/2006/main">
            <a:pPr>
              <a:defRPr sz="3300" b="1">
                <a:solidFill>
                  <a:srgbClr val="172B40"/>
                </a:solidFill>
                <a:latin typeface="Helvetica Neue"/>
                <a:ea typeface="Helvetica Neue"/>
                <a:cs typeface="Helvetica Neue"/>
              </a:defRPr>
            </a:pPr>
            <a:r>
              <a:rPr sz="3300" b="1">
                <a:solidFill>
                  <a:srgbClr val="172B40"/>
                </a:solidFill>
                <a:latin typeface="Helvetica Neue"/>
                <a:ea typeface="Helvetica Neue"/>
                <a:cs typeface="Helvetica Neue"/>
              </a:rPr>
              <a:t>Target users and scope</a:t>
            </a:r>
          </a:p>
        </p:txBody>
      </p:sp>
      <p:sp>
        <p:nvSpPr>
          <p:cNvPr id="2" name="">
            <a:extLst xmlns:a="http://schemas.openxmlformats.org/drawingml/2006/main">
              <a:ext uri="{FF2B5EF4-FFF2-40B4-BE49-F238E27FC236}">
                <a16:creationId xmlns:a16="http://schemas.microsoft.com/office/drawing/2014/main" id="{C8816A4E-85CD-4EB3-A008-DD6F05B0E480}"/>
              </a:ext>
            </a:extLst>
          </p:cNvPr>
          <p:cNvSpPr>
            <a:spLocks xmlns:a="http://schemas.openxmlformats.org/drawingml/2006/main" noGrp="1"/>
          </p:cNvSpPr>
          <p:nvPr/>
        </p:nvSpPr>
        <p:spPr>
          <a:xfrm xmlns:a="http://schemas.openxmlformats.org/drawingml/2006/main">
            <a:off x="609600" y="64484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77A"/>
                </a:solidFill>
                <a:latin typeface="Helvetica Neue"/>
                <a:ea typeface="Helvetica Neue"/>
                <a:cs typeface="Helvetica Neue"/>
              </a:defRPr>
            </a:defPPr>
          </a:lstStyle>
          <a:p xmlns:a="http://schemas.openxmlformats.org/drawingml/2006/main">
            <a:pPr>
              <a:defRPr sz="1350" b="0">
                <a:solidFill>
                  <a:srgbClr val="52677A"/>
                </a:solidFill>
                <a:latin typeface="Helvetica Neue"/>
                <a:ea typeface="Helvetica Neue"/>
                <a:cs typeface="Helvetica Neue"/>
              </a:defRPr>
            </a:pPr>
            <a:r>
              <a:rPr sz="1350" b="0">
                <a:solidFill>
                  <a:srgbClr val="52677A"/>
                </a:solidFill>
                <a:latin typeface="Helvetica Neue"/>
                <a:ea typeface="Helvetica Neue"/>
                <a:cs typeface="Helvetica Neue"/>
              </a:rPr>
              <a:t>CakGo   /   17 October 2026   /   2</a:t>
            </a:r>
          </a:p>
        </p:txBody>
      </p:sp>
      <p:sp>
        <p:nvSpPr>
          <p:cNvPr id="3" name="">
            <a:extLst xmlns:a="http://schemas.openxmlformats.org/drawingml/2006/main">
              <a:ext uri="{FF2B5EF4-FFF2-40B4-BE49-F238E27FC236}">
                <a16:creationId xmlns:a16="http://schemas.microsoft.com/office/drawing/2014/main" id="{11EA5974-CDB4-46CF-B072-5EC290556EF0}"/>
              </a:ext>
            </a:extLst>
          </p:cNvPr>
          <p:cNvSpPr>
            <a:spLocks xmlns:a="http://schemas.openxmlformats.org/drawingml/2006/main" noGrp="1"/>
          </p:cNvSpPr>
          <p:nvPr/>
        </p:nvSpPr>
        <p:spPr>
          <a:xfrm xmlns:a="http://schemas.openxmlformats.org/drawingml/2006/main">
            <a:off x="666750" y="16573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07C83"/>
                </a:solidFill>
                <a:latin typeface="Helvetica Neue"/>
                <a:ea typeface="Helvetica Neue"/>
                <a:cs typeface="Helvetica Neue"/>
              </a:defRPr>
            </a:defPPr>
          </a:lstStyle>
          <a:p xmlns:a="http://schemas.openxmlformats.org/drawingml/2006/main">
            <a:pPr>
              <a:defRPr sz="2700" b="1">
                <a:solidFill>
                  <a:srgbClr val="007C83"/>
                </a:solidFill>
                <a:latin typeface="Helvetica Neue"/>
                <a:ea typeface="Helvetica Neue"/>
                <a:cs typeface="Helvetica Neue"/>
              </a:defRPr>
            </a:pPr>
            <a:r>
              <a:rPr sz="2700" b="1">
                <a:solidFill>
                  <a:srgbClr val="007C83"/>
                </a:solidFill>
                <a:latin typeface="Helvetica Neue"/>
                <a:ea typeface="Helvetica Neue"/>
                <a:cs typeface="Helvetica Neue"/>
              </a:rPr>
              <a:t>Wallets, keys, glasses and TV remotes</a:t>
            </a:r>
          </a:p>
        </p:txBody>
      </p:sp>
      <p:sp>
        <p:nvSpPr>
          <p:cNvPr id="4" name="">
            <a:extLst xmlns:a="http://schemas.openxmlformats.org/drawingml/2006/main">
              <a:ext uri="{FF2B5EF4-FFF2-40B4-BE49-F238E27FC236}">
                <a16:creationId xmlns:a16="http://schemas.microsoft.com/office/drawing/2014/main" id="{FDC6FB23-0E99-43CD-BFEC-20AC7FC36A2E}"/>
              </a:ext>
            </a:extLst>
          </p:cNvPr>
          <p:cNvSpPr>
            <a:spLocks xmlns:a="http://schemas.openxmlformats.org/drawingml/2006/main" noGrp="1"/>
          </p:cNvSpPr>
          <p:nvPr/>
        </p:nvSpPr>
        <p:spPr>
          <a:xfrm xmlns:a="http://schemas.openxmlformats.org/drawingml/2006/main">
            <a:off x="666750" y="27051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40"/>
                </a:solidFill>
                <a:latin typeface="Helvetica Neue"/>
                <a:ea typeface="Helvetica Neue"/>
                <a:cs typeface="Helvetica Neue"/>
              </a:defRPr>
            </a:defPPr>
          </a:lstStyle>
          <a:p xmlns:a="http://schemas.openxmlformats.org/drawingml/2006/main">
            <a:pPr>
              <a:defRPr sz="2100" b="0">
                <a:solidFill>
                  <a:srgbClr val="172B40"/>
                </a:solidFill>
                <a:latin typeface="Helvetica Neue"/>
                <a:ea typeface="Helvetica Neue"/>
                <a:cs typeface="Helvetica Neue"/>
              </a:defRPr>
            </a:pPr>
            <a:r>
              <a:rPr sz="2100" b="0">
                <a:solidFill>
                  <a:srgbClr val="172B40"/>
                </a:solidFill>
                <a:latin typeface="Helvetica Neue"/>
                <a:ea typeface="Helvetica Neue"/>
                <a:cs typeface="Helvetica Neue"/>
              </a:rPr>
              <a:t>People with visual difficulties and anyone who struggles to locate small belongings are the intended users.</a:t>
            </a:r>
          </a:p>
        </p:txBody>
      </p:sp>
      <p:sp>
        <p:nvSpPr>
          <p:cNvPr id="5" name="">
            <a:extLst xmlns:a="http://schemas.openxmlformats.org/drawingml/2006/main">
              <a:ext uri="{FF2B5EF4-FFF2-40B4-BE49-F238E27FC236}">
                <a16:creationId xmlns:a16="http://schemas.microsoft.com/office/drawing/2014/main" id="{5049D75A-7A47-4377-A81F-D813189167CB}"/>
              </a:ext>
            </a:extLst>
          </p:cNvPr>
          <p:cNvSpPr>
            <a:spLocks xmlns:a="http://schemas.openxmlformats.org/drawingml/2006/main" noGrp="1"/>
          </p:cNvSpPr>
          <p:nvPr/>
        </p:nvSpPr>
        <p:spPr>
          <a:xfrm xmlns:a="http://schemas.openxmlformats.org/drawingml/2006/main">
            <a:off x="666750" y="3752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40"/>
                </a:solidFill>
                <a:latin typeface="Helvetica Neue"/>
                <a:ea typeface="Helvetica Neue"/>
                <a:cs typeface="Helvetica Neue"/>
              </a:defRPr>
            </a:defPPr>
          </a:lstStyle>
          <a:p xmlns:a="http://schemas.openxmlformats.org/drawingml/2006/main">
            <a:pPr>
              <a:defRPr sz="2100" b="0">
                <a:solidFill>
                  <a:srgbClr val="172B40"/>
                </a:solidFill>
                <a:latin typeface="Helvetica Neue"/>
                <a:ea typeface="Helvetica Neue"/>
                <a:cs typeface="Helvetica Neue"/>
              </a:defRPr>
            </a:pPr>
            <a:r>
              <a:rPr sz="2100" b="0">
                <a:solidFill>
                  <a:srgbClr val="172B40"/>
                </a:solidFill>
                <a:latin typeface="Helvetica Neue"/>
                <a:ea typeface="Helvetica Neue"/>
                <a:cs typeface="Helvetica Neue"/>
              </a:rPr>
              <a:t>The phone shows the detected object and speaks its screen position: left, center or right.</a:t>
            </a:r>
          </a:p>
        </p:txBody>
      </p:sp>
      <p:sp>
        <p:nvSpPr>
          <p:cNvPr id="6" name="">
            <a:extLst xmlns:a="http://schemas.openxmlformats.org/drawingml/2006/main">
              <a:ext uri="{FF2B5EF4-FFF2-40B4-BE49-F238E27FC236}">
                <a16:creationId xmlns:a16="http://schemas.microsoft.com/office/drawing/2014/main" id="{83313703-A8AC-4B97-92A8-19965F473C7C}"/>
              </a:ext>
            </a:extLst>
          </p:cNvPr>
          <p:cNvSpPr>
            <a:spLocks xmlns:a="http://schemas.openxmlformats.org/drawingml/2006/main" noGrp="1"/>
          </p:cNvSpPr>
          <p:nvPr/>
        </p:nvSpPr>
        <p:spPr>
          <a:xfrm xmlns:a="http://schemas.openxmlformats.org/drawingml/2006/main">
            <a:off x="666750" y="48006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40"/>
                </a:solidFill>
                <a:latin typeface="Helvetica Neue"/>
                <a:ea typeface="Helvetica Neue"/>
                <a:cs typeface="Helvetica Neue"/>
              </a:defRPr>
            </a:defPPr>
          </a:lstStyle>
          <a:p xmlns:a="http://schemas.openxmlformats.org/drawingml/2006/main">
            <a:pPr>
              <a:defRPr sz="2100" b="0">
                <a:solidFill>
                  <a:srgbClr val="172B40"/>
                </a:solidFill>
                <a:latin typeface="Helvetica Neue"/>
                <a:ea typeface="Helvetica Neue"/>
                <a:cs typeface="Helvetica Neue"/>
              </a:defRPr>
            </a:pPr>
            <a:r>
              <a:rPr sz="2100" b="0">
                <a:solidFill>
                  <a:srgbClr val="172B40"/>
                </a:solidFill>
                <a:latin typeface="Helvetica Neue"/>
                <a:ea typeface="Helvetica Neue"/>
                <a:cs typeface="Helvetica Neue"/>
              </a:rPr>
              <a:t>The MVP requires a visible target. It does not estimate physical distance or find fully hidden objects.</a:t>
            </a:r>
          </a:p>
        </p:txBody>
      </p:sp>
    </p:spTree>
    <p:extLst>
      <p:ext uri="{BB962C8B-B14F-4D97-AF65-F5344CB8AC3E}">
        <p14:creationId xmlns:p14="http://schemas.microsoft.com/office/powerpoint/2010/main" val="5224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40F88E-73F2-4BA1-8C89-87919A4CF1CB}"/>
              </a:ext>
            </a:extLst>
          </p:cNvPr>
          <p:cNvSpPr>
            <a:spLocks xmlns:a="http://schemas.openxmlformats.org/drawingml/2006/main" noGrp="1"/>
          </p:cNvSpPr>
          <p:nvPr/>
        </p:nvSpPr>
        <p:spPr>
          <a:xfrm xmlns:a="http://schemas.openxmlformats.org/drawingml/2006/main">
            <a:off x="609600" y="400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0"/>
                </a:solidFill>
                <a:latin typeface="Helvetica Neue"/>
                <a:ea typeface="Helvetica Neue"/>
                <a:cs typeface="Helvetica Neue"/>
              </a:defRPr>
            </a:defPPr>
          </a:lstStyle>
          <a:p xmlns:a="http://schemas.openxmlformats.org/drawingml/2006/main">
            <a:pPr>
              <a:defRPr sz="3300" b="1">
                <a:solidFill>
                  <a:srgbClr val="172B40"/>
                </a:solidFill>
                <a:latin typeface="Helvetica Neue"/>
                <a:ea typeface="Helvetica Neue"/>
                <a:cs typeface="Helvetica Neue"/>
              </a:defRPr>
            </a:pPr>
            <a:r>
              <a:rPr sz="3300" b="1">
                <a:solidFill>
                  <a:srgbClr val="172B40"/>
                </a:solidFill>
                <a:latin typeface="Helvetica Neue"/>
                <a:ea typeface="Helvetica Neue"/>
                <a:cs typeface="Helvetica Neue"/>
              </a:rPr>
              <a:t>Camera to Korean guidance</a:t>
            </a:r>
          </a:p>
        </p:txBody>
      </p:sp>
      <p:sp>
        <p:nvSpPr>
          <p:cNvPr id="2" name="">
            <a:extLst xmlns:a="http://schemas.openxmlformats.org/drawingml/2006/main">
              <a:ext uri="{FF2B5EF4-FFF2-40B4-BE49-F238E27FC236}">
                <a16:creationId xmlns:a16="http://schemas.microsoft.com/office/drawing/2014/main" id="{6E1D0EFA-E9EA-4A39-8483-AFC3F96F19BA}"/>
              </a:ext>
            </a:extLst>
          </p:cNvPr>
          <p:cNvSpPr>
            <a:spLocks xmlns:a="http://schemas.openxmlformats.org/drawingml/2006/main" noGrp="1"/>
          </p:cNvSpPr>
          <p:nvPr/>
        </p:nvSpPr>
        <p:spPr>
          <a:xfrm xmlns:a="http://schemas.openxmlformats.org/drawingml/2006/main">
            <a:off x="609600" y="64484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77A"/>
                </a:solidFill>
                <a:latin typeface="Helvetica Neue"/>
                <a:ea typeface="Helvetica Neue"/>
                <a:cs typeface="Helvetica Neue"/>
              </a:defRPr>
            </a:defPPr>
          </a:lstStyle>
          <a:p xmlns:a="http://schemas.openxmlformats.org/drawingml/2006/main">
            <a:pPr>
              <a:defRPr sz="1350" b="0">
                <a:solidFill>
                  <a:srgbClr val="52677A"/>
                </a:solidFill>
                <a:latin typeface="Helvetica Neue"/>
                <a:ea typeface="Helvetica Neue"/>
                <a:cs typeface="Helvetica Neue"/>
              </a:defRPr>
            </a:pPr>
            <a:r>
              <a:rPr sz="1350" b="0">
                <a:solidFill>
                  <a:srgbClr val="52677A"/>
                </a:solidFill>
                <a:latin typeface="Helvetica Neue"/>
                <a:ea typeface="Helvetica Neue"/>
                <a:cs typeface="Helvetica Neue"/>
              </a:rPr>
              <a:t>CakGo   /   17 October 2026   /   3</a:t>
            </a:r>
          </a:p>
        </p:txBody>
      </p:sp>
      <p:graphicFrame>
        <p:nvGraphicFramePr>
          <p:cNvPr id="3" name="">
            <a:extLst xmlns:a="http://schemas.openxmlformats.org/drawingml/2006/main">
              <a:ext uri="{FF2B5EF4-FFF2-40B4-BE49-F238E27FC236}">
                <a16:creationId xmlns:a16="http://schemas.microsoft.com/office/drawing/2014/main" id="{D808A64F-D431-438E-8A84-FFA36EDA3F28}"/>
              </a:ext>
            </a:extLst>
          </p:cNvPr>
          <p:cNvGraphicFramePr/>
          <p:nvPr/>
        </p:nvGraphicFramePr>
        <p:xfrm>
          <a:off xmlns:a="http://schemas.openxmlformats.org/drawingml/2006/main" x="609600" y="1524000"/>
          <a:ext xmlns:a="http://schemas.openxmlformats.org/drawingml/2006/main" cx="10972800" cy="3619500"/>
        </p:xfrm>
        <a:graphic xmlns:a="http://schemas.openxmlformats.org/drawingml/2006/main">
          <a:graphicData uri="http://schemas.openxmlformats.org/drawingml/2006/table">
            <a:tbl>
              <a:tblPr/>
              <a:tblGrid>
                <a:gridCol w="2809875"/>
                <a:gridCol w="8162925"/>
              </a:tblGrid>
              <a:tr h="723900">
                <a:tc>
                  <a:txBody>
                    <a:bodyPr/>
                    <a:lstStyle/>
                    <a:p>
                      <a:r>
                        <a:rPr sz="1725" b="1">
                          <a:solidFill>
                            <a:srgbClr val="FFFFFF"/>
                          </a:solidFill>
                          <a:latin typeface="Helvetica Neue"/>
                          <a:ea typeface="Helvetica Neue"/>
                          <a:cs typeface="Helvetica Neue"/>
                        </a:rPr>
                        <a:t>Stage</a:t>
                      </a:r>
                    </a:p>
                  </a:txBody>
                  <a:tcPr marL="114300" marR="114300" marT="85725" marB="85725" anchor="ctr">
                    <a:lnL w="9525">
                      <a:solidFill>
                        <a:srgbClr val="D9E1E8"/>
                      </a:solidFill>
                      <a:prstDash val="solid"/>
                    </a:lnL>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c>
                  <a:txBody>
                    <a:bodyPr/>
                    <a:lstStyle/>
                    <a:p>
                      <a:r>
                        <a:rPr sz="1725" b="1">
                          <a:solidFill>
                            <a:srgbClr val="FFFFFF"/>
                          </a:solidFill>
                          <a:latin typeface="Helvetica Neue"/>
                          <a:ea typeface="Helvetica Neue"/>
                          <a:cs typeface="Helvetica Neue"/>
                        </a:rPr>
                        <a:t>Responsibility</a:t>
                      </a:r>
                    </a:p>
                  </a:txBody>
                  <a:tcPr marL="114300" marR="114300" marT="85725" marB="85725" anchor="ctr">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r>
              <a:tr h="723900">
                <a:tc>
                  <a:txBody>
                    <a:bodyPr/>
                    <a:lstStyle/>
                    <a:p>
                      <a:r>
                        <a:rPr sz="1800">
                          <a:solidFill>
                            <a:srgbClr val="172B40"/>
                          </a:solidFill>
                          <a:latin typeface="Helvetica Neue"/>
                          <a:ea typeface="Helvetica Neue"/>
                          <a:cs typeface="Helvetica Neue"/>
                        </a:rPr>
                        <a:t>Phone camera</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Capture a frame and send the selected target</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r>
              <a:tr h="723900">
                <a:tc>
                  <a:txBody>
                    <a:bodyPr/>
                    <a:lstStyle/>
                    <a:p>
                      <a:r>
                        <a:rPr sz="1800">
                          <a:solidFill>
                            <a:srgbClr val="172B40"/>
                          </a:solidFill>
                          <a:latin typeface="Helvetica Neue"/>
                          <a:ea typeface="Helvetica Neue"/>
                          <a:cs typeface="Helvetica Neue"/>
                        </a:rPr>
                        <a:t>FastAPI backend</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Receive image, call detector and calculate direction</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r>
              <a:tr h="723900">
                <a:tc>
                  <a:txBody>
                    <a:bodyPr/>
                    <a:lstStyle/>
                    <a:p>
                      <a:r>
                        <a:rPr sz="1800">
                          <a:solidFill>
                            <a:srgbClr val="172B40"/>
                          </a:solidFill>
                          <a:latin typeface="Helvetica Neue"/>
                          <a:ea typeface="Helvetica Neue"/>
                          <a:cs typeface="Helvetica Neue"/>
                        </a:rPr>
                        <a:t>Detection model</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Return matching boxes in original-image pixels</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r>
              <a:tr h="723900">
                <a:tc>
                  <a:txBody>
                    <a:bodyPr/>
                    <a:lstStyle/>
                    <a:p>
                      <a:r>
                        <a:rPr sz="1800">
                          <a:solidFill>
                            <a:srgbClr val="172B40"/>
                          </a:solidFill>
                          <a:latin typeface="Helvetica Neue"/>
                          <a:ea typeface="Helvetica Neue"/>
                          <a:cs typeface="Helvetica Neue"/>
                        </a:rPr>
                        <a:t>Phone feedback</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Draw boxes, show Korean text and speak guidance</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E09EE56-0A89-4074-9960-DC87AD482993}"/>
              </a:ext>
            </a:extLst>
          </p:cNvPr>
          <p:cNvSpPr>
            <a:spLocks xmlns:a="http://schemas.openxmlformats.org/drawingml/2006/main" noGrp="1"/>
          </p:cNvSpPr>
          <p:nvPr/>
        </p:nvSpPr>
        <p:spPr>
          <a:xfrm xmlns:a="http://schemas.openxmlformats.org/drawingml/2006/main">
            <a:off x="66675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C83"/>
                </a:solidFill>
                <a:latin typeface="Helvetica Neue"/>
                <a:ea typeface="Helvetica Neue"/>
                <a:cs typeface="Helvetica Neue"/>
              </a:defRPr>
            </a:defPPr>
          </a:lstStyle>
          <a:p xmlns:a="http://schemas.openxmlformats.org/drawingml/2006/main">
            <a:pPr>
              <a:defRPr sz="2100" b="1">
                <a:solidFill>
                  <a:srgbClr val="007C83"/>
                </a:solidFill>
                <a:latin typeface="Helvetica Neue"/>
                <a:ea typeface="Helvetica Neue"/>
                <a:cs typeface="Helvetica Neue"/>
              </a:defRPr>
            </a:pPr>
            <a:r>
              <a:rPr sz="2100" b="1">
                <a:solidFill>
                  <a:srgbClr val="007C83"/>
                </a:solidFill>
                <a:latin typeface="Helvetica Neue"/>
                <a:ea typeface="Helvetica Neue"/>
                <a:cs typeface="Helvetica Neue"/>
              </a:rPr>
              <a:t>No detection means “not visible in this frame.”</a:t>
            </a:r>
          </a:p>
        </p:txBody>
      </p:sp>
    </p:spTree>
    <p:extLst>
      <p:ext uri="{BB962C8B-B14F-4D97-AF65-F5344CB8AC3E}">
        <p14:creationId xmlns:p14="http://schemas.microsoft.com/office/powerpoint/2010/main" val="19409952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168172-CCCD-44A5-B0B1-A4114B487DB5}"/>
              </a:ext>
            </a:extLst>
          </p:cNvPr>
          <p:cNvSpPr>
            <a:spLocks xmlns:a="http://schemas.openxmlformats.org/drawingml/2006/main" noGrp="1"/>
          </p:cNvSpPr>
          <p:nvPr/>
        </p:nvSpPr>
        <p:spPr>
          <a:xfrm xmlns:a="http://schemas.openxmlformats.org/drawingml/2006/main">
            <a:off x="609600" y="400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0"/>
                </a:solidFill>
                <a:latin typeface="Helvetica Neue"/>
                <a:ea typeface="Helvetica Neue"/>
                <a:cs typeface="Helvetica Neue"/>
              </a:defRPr>
            </a:defPPr>
          </a:lstStyle>
          <a:p xmlns:a="http://schemas.openxmlformats.org/drawingml/2006/main">
            <a:pPr>
              <a:defRPr sz="3300" b="1">
                <a:solidFill>
                  <a:srgbClr val="172B40"/>
                </a:solidFill>
                <a:latin typeface="Helvetica Neue"/>
                <a:ea typeface="Helvetica Neue"/>
                <a:cs typeface="Helvetica Neue"/>
              </a:defRPr>
            </a:pPr>
            <a:r>
              <a:rPr sz="3300" b="1">
                <a:solidFill>
                  <a:srgbClr val="172B40"/>
                </a:solidFill>
                <a:latin typeface="Helvetica Neue"/>
                <a:ea typeface="Helvetica Neue"/>
                <a:cs typeface="Helvetica Neue"/>
              </a:rPr>
              <a:t>Implementation progress</a:t>
            </a:r>
          </a:p>
        </p:txBody>
      </p:sp>
      <p:sp>
        <p:nvSpPr>
          <p:cNvPr id="2" name="">
            <a:extLst xmlns:a="http://schemas.openxmlformats.org/drawingml/2006/main">
              <a:ext uri="{FF2B5EF4-FFF2-40B4-BE49-F238E27FC236}">
                <a16:creationId xmlns:a16="http://schemas.microsoft.com/office/drawing/2014/main" id="{90A6232B-57DD-40A5-AD96-BF73BD329089}"/>
              </a:ext>
            </a:extLst>
          </p:cNvPr>
          <p:cNvSpPr>
            <a:spLocks xmlns:a="http://schemas.openxmlformats.org/drawingml/2006/main" noGrp="1"/>
          </p:cNvSpPr>
          <p:nvPr/>
        </p:nvSpPr>
        <p:spPr>
          <a:xfrm xmlns:a="http://schemas.openxmlformats.org/drawingml/2006/main">
            <a:off x="609600" y="64484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77A"/>
                </a:solidFill>
                <a:latin typeface="Helvetica Neue"/>
                <a:ea typeface="Helvetica Neue"/>
                <a:cs typeface="Helvetica Neue"/>
              </a:defRPr>
            </a:defPPr>
          </a:lstStyle>
          <a:p xmlns:a="http://schemas.openxmlformats.org/drawingml/2006/main">
            <a:pPr>
              <a:defRPr sz="1350" b="0">
                <a:solidFill>
                  <a:srgbClr val="52677A"/>
                </a:solidFill>
                <a:latin typeface="Helvetica Neue"/>
                <a:ea typeface="Helvetica Neue"/>
                <a:cs typeface="Helvetica Neue"/>
              </a:defRPr>
            </a:pPr>
            <a:r>
              <a:rPr sz="1350" b="0">
                <a:solidFill>
                  <a:srgbClr val="52677A"/>
                </a:solidFill>
                <a:latin typeface="Helvetica Neue"/>
                <a:ea typeface="Helvetica Neue"/>
                <a:cs typeface="Helvetica Neue"/>
              </a:rPr>
              <a:t>CakGo   /   17 October 2026   /   4</a:t>
            </a:r>
          </a:p>
        </p:txBody>
      </p:sp>
      <p:graphicFrame>
        <p:nvGraphicFramePr>
          <p:cNvPr id="3" name="">
            <a:extLst xmlns:a="http://schemas.openxmlformats.org/drawingml/2006/main">
              <a:ext uri="{FF2B5EF4-FFF2-40B4-BE49-F238E27FC236}">
                <a16:creationId xmlns:a16="http://schemas.microsoft.com/office/drawing/2014/main" id="{ECCD2C9F-2066-4D8E-AFD8-B702741FD9F3}"/>
              </a:ext>
            </a:extLst>
          </p:cNvPr>
          <p:cNvGraphicFramePr/>
          <p:nvPr/>
        </p:nvGraphicFramePr>
        <p:xfrm>
          <a:off xmlns:a="http://schemas.openxmlformats.org/drawingml/2006/main" x="609600" y="1524000"/>
          <a:ext xmlns:a="http://schemas.openxmlformats.org/drawingml/2006/main" cx="10972800" cy="3619500"/>
        </p:xfrm>
        <a:graphic xmlns:a="http://schemas.openxmlformats.org/drawingml/2006/main">
          <a:graphicData uri="http://schemas.openxmlformats.org/drawingml/2006/table">
            <a:tbl>
              <a:tblPr/>
              <a:tblGrid>
                <a:gridCol w="4238625"/>
                <a:gridCol w="6734175"/>
              </a:tblGrid>
              <a:tr h="723900">
                <a:tc>
                  <a:txBody>
                    <a:bodyPr/>
                    <a:lstStyle/>
                    <a:p>
                      <a:r>
                        <a:rPr sz="1725" b="1">
                          <a:solidFill>
                            <a:srgbClr val="FFFFFF"/>
                          </a:solidFill>
                          <a:latin typeface="Helvetica Neue"/>
                          <a:ea typeface="Helvetica Neue"/>
                          <a:cs typeface="Helvetica Neue"/>
                        </a:rPr>
                        <a:t>Work</a:t>
                      </a:r>
                    </a:p>
                  </a:txBody>
                  <a:tcPr marL="114300" marR="114300" marT="85725" marB="85725" anchor="ctr">
                    <a:lnL w="9525">
                      <a:solidFill>
                        <a:srgbClr val="D9E1E8"/>
                      </a:solidFill>
                      <a:prstDash val="solid"/>
                    </a:lnL>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c>
                  <a:txBody>
                    <a:bodyPr/>
                    <a:lstStyle/>
                    <a:p>
                      <a:r>
                        <a:rPr sz="1725" b="1">
                          <a:solidFill>
                            <a:srgbClr val="FFFFFF"/>
                          </a:solidFill>
                          <a:latin typeface="Helvetica Neue"/>
                          <a:ea typeface="Helvetica Neue"/>
                          <a:cs typeface="Helvetica Neue"/>
                        </a:rPr>
                        <a:t>Recorded status</a:t>
                      </a:r>
                    </a:p>
                  </a:txBody>
                  <a:tcPr marL="114300" marR="114300" marT="85725" marB="85725" anchor="ctr">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r>
              <a:tr h="723900">
                <a:tc>
                  <a:txBody>
                    <a:bodyPr/>
                    <a:lstStyle/>
                    <a:p>
                      <a:r>
                        <a:rPr sz="1800">
                          <a:solidFill>
                            <a:srgbClr val="172B40"/>
                          </a:solidFill>
                          <a:latin typeface="Helvetica Neue"/>
                          <a:ea typeface="Helvetica Neue"/>
                          <a:cs typeface="Helvetica Neue"/>
                        </a:rPr>
                        <a:t>YOLO fine-tuning</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PR #7 merged, training and evaluation saved</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r>
              <a:tr h="723900">
                <a:tc>
                  <a:txBody>
                    <a:bodyPr/>
                    <a:lstStyle/>
                    <a:p>
                      <a:r>
                        <a:rPr sz="1800">
                          <a:solidFill>
                            <a:srgbClr val="172B40"/>
                          </a:solidFill>
                          <a:latin typeface="Helvetica Neue"/>
                          <a:ea typeface="Helvetica Neue"/>
                          <a:cs typeface="Helvetica Neue"/>
                        </a:rPr>
                        <a:t>Camera and API display</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PR #5 merged</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r>
              <a:tr h="723900">
                <a:tc>
                  <a:txBody>
                    <a:bodyPr/>
                    <a:lstStyle/>
                    <a:p>
                      <a:r>
                        <a:rPr sz="1800">
                          <a:solidFill>
                            <a:srgbClr val="172B40"/>
                          </a:solidFill>
                          <a:latin typeface="Helvetica Neue"/>
                          <a:ea typeface="Helvetica Neue"/>
                          <a:cs typeface="Helvetica Neue"/>
                        </a:rPr>
                        <a:t>DINO integration factory</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PR #6 merged</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r>
              <a:tr h="723900">
                <a:tc>
                  <a:txBody>
                    <a:bodyPr/>
                    <a:lstStyle/>
                    <a:p>
                      <a:r>
                        <a:rPr sz="1800">
                          <a:solidFill>
                            <a:srgbClr val="172B40"/>
                          </a:solidFill>
                          <a:latin typeface="Helvetica Neue"/>
                          <a:ea typeface="Helvetica Neue"/>
                          <a:cs typeface="Helvetica Neue"/>
                        </a:rPr>
                        <a:t>Frontend speech wiring</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PR #8 open, automated checks passed</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67AF507-595A-4D1E-99F2-093375BFBA29}"/>
              </a:ext>
            </a:extLst>
          </p:cNvPr>
          <p:cNvSpPr>
            <a:spLocks xmlns:a="http://schemas.openxmlformats.org/drawingml/2006/main" noGrp="1"/>
          </p:cNvSpPr>
          <p:nvPr/>
        </p:nvSpPr>
        <p:spPr>
          <a:xfrm xmlns:a="http://schemas.openxmlformats.org/drawingml/2006/main">
            <a:off x="666750" y="55149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C83"/>
                </a:solidFill>
                <a:latin typeface="Helvetica Neue"/>
                <a:ea typeface="Helvetica Neue"/>
                <a:cs typeface="Helvetica Neue"/>
              </a:defRPr>
            </a:defPPr>
          </a:lstStyle>
          <a:p xmlns:a="http://schemas.openxmlformats.org/drawingml/2006/main">
            <a:pPr>
              <a:defRPr sz="2025" b="1">
                <a:solidFill>
                  <a:srgbClr val="007C83"/>
                </a:solidFill>
                <a:latin typeface="Helvetica Neue"/>
                <a:ea typeface="Helvetica Neue"/>
                <a:cs typeface="Helvetica Neue"/>
              </a:defRPr>
            </a:pPr>
            <a:r>
              <a:rPr sz="2025" b="1">
                <a:solidFill>
                  <a:srgbClr val="007C83"/>
                </a:solidFill>
                <a:latin typeface="Helvetica Neue"/>
                <a:ea typeface="Helvetica Neue"/>
                <a:cs typeface="Helvetica Neue"/>
              </a:rPr>
              <a:t>Phone audio and the complete real-model flow still need device tests.</a:t>
            </a:r>
          </a:p>
        </p:txBody>
      </p:sp>
    </p:spTree>
    <p:extLst>
      <p:ext uri="{BB962C8B-B14F-4D97-AF65-F5344CB8AC3E}">
        <p14:creationId xmlns:p14="http://schemas.microsoft.com/office/powerpoint/2010/main" val="14575537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34DD56-6604-4F97-A8BF-A1F885A611F9}"/>
              </a:ext>
            </a:extLst>
          </p:cNvPr>
          <p:cNvSpPr>
            <a:spLocks xmlns:a="http://schemas.openxmlformats.org/drawingml/2006/main" noGrp="1"/>
          </p:cNvSpPr>
          <p:nvPr/>
        </p:nvSpPr>
        <p:spPr>
          <a:xfrm xmlns:a="http://schemas.openxmlformats.org/drawingml/2006/main">
            <a:off x="609600" y="400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0"/>
                </a:solidFill>
                <a:latin typeface="Helvetica Neue"/>
                <a:ea typeface="Helvetica Neue"/>
                <a:cs typeface="Helvetica Neue"/>
              </a:defRPr>
            </a:defPPr>
          </a:lstStyle>
          <a:p xmlns:a="http://schemas.openxmlformats.org/drawingml/2006/main">
            <a:pPr>
              <a:defRPr sz="3300" b="1">
                <a:solidFill>
                  <a:srgbClr val="172B40"/>
                </a:solidFill>
                <a:latin typeface="Helvetica Neue"/>
                <a:ea typeface="Helvetica Neue"/>
                <a:cs typeface="Helvetica Neue"/>
              </a:defRPr>
            </a:pPr>
            <a:r>
              <a:rPr sz="3300" b="1">
                <a:solidFill>
                  <a:srgbClr val="172B40"/>
                </a:solidFill>
                <a:latin typeface="Helvetica Neue"/>
                <a:ea typeface="Helvetica Neue"/>
                <a:cs typeface="Helvetica Neue"/>
              </a:rPr>
              <a:t>Baseline comparison on remote control</a:t>
            </a:r>
          </a:p>
        </p:txBody>
      </p:sp>
      <p:sp>
        <p:nvSpPr>
          <p:cNvPr id="2" name="">
            <a:extLst xmlns:a="http://schemas.openxmlformats.org/drawingml/2006/main">
              <a:ext uri="{FF2B5EF4-FFF2-40B4-BE49-F238E27FC236}">
                <a16:creationId xmlns:a16="http://schemas.microsoft.com/office/drawing/2014/main" id="{1441838D-3E26-4D90-A7CA-F7C1C8688BC1}"/>
              </a:ext>
            </a:extLst>
          </p:cNvPr>
          <p:cNvSpPr>
            <a:spLocks xmlns:a="http://schemas.openxmlformats.org/drawingml/2006/main" noGrp="1"/>
          </p:cNvSpPr>
          <p:nvPr/>
        </p:nvSpPr>
        <p:spPr>
          <a:xfrm xmlns:a="http://schemas.openxmlformats.org/drawingml/2006/main">
            <a:off x="609600" y="64484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77A"/>
                </a:solidFill>
                <a:latin typeface="Helvetica Neue"/>
                <a:ea typeface="Helvetica Neue"/>
                <a:cs typeface="Helvetica Neue"/>
              </a:defRPr>
            </a:defPPr>
          </a:lstStyle>
          <a:p xmlns:a="http://schemas.openxmlformats.org/drawingml/2006/main">
            <a:pPr>
              <a:defRPr sz="1350" b="0">
                <a:solidFill>
                  <a:srgbClr val="52677A"/>
                </a:solidFill>
                <a:latin typeface="Helvetica Neue"/>
                <a:ea typeface="Helvetica Neue"/>
                <a:cs typeface="Helvetica Neue"/>
              </a:defRPr>
            </a:pPr>
            <a:r>
              <a:rPr sz="1350" b="0">
                <a:solidFill>
                  <a:srgbClr val="52677A"/>
                </a:solidFill>
                <a:latin typeface="Helvetica Neue"/>
                <a:ea typeface="Helvetica Neue"/>
                <a:cs typeface="Helvetica Neue"/>
              </a:rPr>
              <a:t>CakGo   /   17 October 2026   /   5</a:t>
            </a:r>
          </a:p>
        </p:txBody>
      </p:sp>
      <p:graphicFrame>
        <p:nvGraphicFramePr>
          <p:cNvPr id="3" name="">
            <a:extLst xmlns:a="http://schemas.openxmlformats.org/drawingml/2006/main">
              <a:ext uri="{FF2B5EF4-FFF2-40B4-BE49-F238E27FC236}">
                <a16:creationId xmlns:a16="http://schemas.microsoft.com/office/drawing/2014/main" id="{1EF60DAA-5C19-4D1E-BAB2-55294AEEDDC5}"/>
              </a:ext>
            </a:extLst>
          </p:cNvPr>
          <p:cNvGraphicFramePr/>
          <p:nvPr/>
        </p:nvGraphicFramePr>
        <p:xfrm>
          <a:off xmlns:a="http://schemas.openxmlformats.org/drawingml/2006/main" x="609600" y="1524000"/>
          <a:ext xmlns:a="http://schemas.openxmlformats.org/drawingml/2006/main" cx="10972800" cy="2400300"/>
        </p:xfrm>
        <a:graphic xmlns:a="http://schemas.openxmlformats.org/drawingml/2006/main">
          <a:graphicData uri="http://schemas.openxmlformats.org/drawingml/2006/table">
            <a:tbl>
              <a:tblPr/>
              <a:tblGrid>
                <a:gridCol w="3429000"/>
                <a:gridCol w="1666875"/>
                <a:gridCol w="1952625"/>
                <a:gridCol w="1666875"/>
                <a:gridCol w="2257425"/>
              </a:tblGrid>
              <a:tr h="800100">
                <a:tc>
                  <a:txBody>
                    <a:bodyPr/>
                    <a:lstStyle/>
                    <a:p>
                      <a:r>
                        <a:rPr sz="1725" b="1">
                          <a:solidFill>
                            <a:srgbClr val="FFFFFF"/>
                          </a:solidFill>
                          <a:latin typeface="Helvetica Neue"/>
                          <a:ea typeface="Helvetica Neue"/>
                          <a:cs typeface="Helvetica Neue"/>
                        </a:rPr>
                        <a:t>Model</a:t>
                      </a:r>
                    </a:p>
                  </a:txBody>
                  <a:tcPr marL="114300" marR="114300" marT="85725" marB="85725" anchor="ctr">
                    <a:lnL w="9525">
                      <a:solidFill>
                        <a:srgbClr val="D9E1E8"/>
                      </a:solidFill>
                      <a:prstDash val="solid"/>
                    </a:lnL>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c>
                  <a:txBody>
                    <a:bodyPr/>
                    <a:lstStyle/>
                    <a:p>
                      <a:r>
                        <a:rPr sz="1725" b="1">
                          <a:solidFill>
                            <a:srgbClr val="FFFFFF"/>
                          </a:solidFill>
                          <a:latin typeface="Helvetica Neue"/>
                          <a:ea typeface="Helvetica Neue"/>
                          <a:cs typeface="Helvetica Neue"/>
                        </a:rPr>
                        <a:t>AP50</a:t>
                      </a:r>
                    </a:p>
                  </a:txBody>
                  <a:tcPr marL="114300" marR="114300" marT="85725" marB="85725" anchor="ctr">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c>
                  <a:txBody>
                    <a:bodyPr/>
                    <a:lstStyle/>
                    <a:p>
                      <a:r>
                        <a:rPr sz="1725" b="1">
                          <a:solidFill>
                            <a:srgbClr val="FFFFFF"/>
                          </a:solidFill>
                          <a:latin typeface="Helvetica Neue"/>
                          <a:ea typeface="Helvetica Neue"/>
                          <a:cs typeface="Helvetica Neue"/>
                        </a:rPr>
                        <a:t>Precision</a:t>
                      </a:r>
                    </a:p>
                  </a:txBody>
                  <a:tcPr marL="114300" marR="114300" marT="85725" marB="85725" anchor="ctr">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c>
                  <a:txBody>
                    <a:bodyPr/>
                    <a:lstStyle/>
                    <a:p>
                      <a:r>
                        <a:rPr sz="1725" b="1">
                          <a:solidFill>
                            <a:srgbClr val="FFFFFF"/>
                          </a:solidFill>
                          <a:latin typeface="Helvetica Neue"/>
                          <a:ea typeface="Helvetica Neue"/>
                          <a:cs typeface="Helvetica Neue"/>
                        </a:rPr>
                        <a:t>Recall</a:t>
                      </a:r>
                    </a:p>
                  </a:txBody>
                  <a:tcPr marL="114300" marR="114300" marT="85725" marB="85725" anchor="ctr">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c>
                  <a:txBody>
                    <a:bodyPr/>
                    <a:lstStyle/>
                    <a:p>
                      <a:r>
                        <a:rPr sz="1725" b="1">
                          <a:solidFill>
                            <a:srgbClr val="FFFFFF"/>
                          </a:solidFill>
                          <a:latin typeface="Helvetica Neue"/>
                          <a:ea typeface="Helvetica Neue"/>
                          <a:cs typeface="Helvetica Neue"/>
                        </a:rPr>
                        <a:t>FP images</a:t>
                      </a:r>
                    </a:p>
                  </a:txBody>
                  <a:tcPr marL="114300" marR="114300" marT="85725" marB="85725" anchor="ctr">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r>
              <a:tr h="800100">
                <a:tc>
                  <a:txBody>
                    <a:bodyPr/>
                    <a:lstStyle/>
                    <a:p>
                      <a:r>
                        <a:rPr sz="1800">
                          <a:solidFill>
                            <a:srgbClr val="172B40"/>
                          </a:solidFill>
                          <a:latin typeface="Helvetica Neue"/>
                          <a:ea typeface="Helvetica Neue"/>
                          <a:cs typeface="Helvetica Neue"/>
                        </a:rPr>
                        <a:t>YOLO26s baseline</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0.870</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1.000</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0.833</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0 / 10</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r>
              <a:tr h="800100">
                <a:tc>
                  <a:txBody>
                    <a:bodyPr/>
                    <a:lstStyle/>
                    <a:p>
                      <a:r>
                        <a:rPr sz="1800">
                          <a:solidFill>
                            <a:srgbClr val="172B40"/>
                          </a:solidFill>
                          <a:latin typeface="Helvetica Neue"/>
                          <a:ea typeface="Helvetica Neue"/>
                          <a:cs typeface="Helvetica Neue"/>
                        </a:rPr>
                        <a:t>DINO tiny</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0.941</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0.198</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1.000</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9 / 10</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96C6B71-42A7-4253-89FC-EE89339F3527}"/>
              </a:ext>
            </a:extLst>
          </p:cNvPr>
          <p:cNvSpPr>
            <a:spLocks xmlns:a="http://schemas.openxmlformats.org/drawingml/2006/main" noGrp="1"/>
          </p:cNvSpPr>
          <p:nvPr/>
        </p:nvSpPr>
        <p:spPr>
          <a:xfrm xmlns:a="http://schemas.openxmlformats.org/drawingml/2006/main">
            <a:off x="666750" y="43624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40"/>
                </a:solidFill>
                <a:latin typeface="Helvetica Neue"/>
                <a:ea typeface="Helvetica Neue"/>
                <a:cs typeface="Helvetica Neue"/>
              </a:defRPr>
            </a:defPPr>
          </a:lstStyle>
          <a:p xmlns:a="http://schemas.openxmlformats.org/drawingml/2006/main">
            <a:pPr>
              <a:defRPr sz="2100" b="0">
                <a:solidFill>
                  <a:srgbClr val="172B40"/>
                </a:solidFill>
                <a:latin typeface="Helvetica Neue"/>
                <a:ea typeface="Helvetica Neue"/>
                <a:cs typeface="Helvetica Neue"/>
              </a:defRPr>
            </a:pPr>
            <a:r>
              <a:rPr sz="2100" b="0">
                <a:solidFill>
                  <a:srgbClr val="172B40"/>
                </a:solidFill>
                <a:latin typeface="Helvetica Neue"/>
                <a:ea typeface="Helvetica Neue"/>
                <a:cs typeface="Helvetica Neue"/>
              </a:rPr>
              <a:t>DINO covers all four targets. Baseline YOLO covers only remote control.</a:t>
            </a:r>
          </a:p>
        </p:txBody>
      </p:sp>
      <p:sp>
        <p:nvSpPr>
          <p:cNvPr id="5" name="">
            <a:extLst xmlns:a="http://schemas.openxmlformats.org/drawingml/2006/main">
              <a:ext uri="{FF2B5EF4-FFF2-40B4-BE49-F238E27FC236}">
                <a16:creationId xmlns:a16="http://schemas.microsoft.com/office/drawing/2014/main" id="{20B06775-444B-4DE5-A040-0E7A0D9FC447}"/>
              </a:ext>
            </a:extLst>
          </p:cNvPr>
          <p:cNvSpPr>
            <a:spLocks xmlns:a="http://schemas.openxmlformats.org/drawingml/2006/main" noGrp="1"/>
          </p:cNvSpPr>
          <p:nvPr/>
        </p:nvSpPr>
        <p:spPr>
          <a:xfrm xmlns:a="http://schemas.openxmlformats.org/drawingml/2006/main">
            <a:off x="666750" y="52006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40"/>
                </a:solidFill>
                <a:latin typeface="Helvetica Neue"/>
                <a:ea typeface="Helvetica Neue"/>
                <a:cs typeface="Helvetica Neue"/>
              </a:defRPr>
            </a:defPPr>
          </a:lstStyle>
          <a:p xmlns:a="http://schemas.openxmlformats.org/drawingml/2006/main">
            <a:pPr>
              <a:defRPr sz="2100" b="0">
                <a:solidFill>
                  <a:srgbClr val="172B40"/>
                </a:solidFill>
                <a:latin typeface="Helvetica Neue"/>
                <a:ea typeface="Helvetica Neue"/>
                <a:cs typeface="Helvetica Neue"/>
              </a:defRPr>
            </a:pPr>
            <a:r>
              <a:rPr sz="2100" b="0">
                <a:solidFill>
                  <a:srgbClr val="172B40"/>
                </a:solidFill>
                <a:latin typeface="Helvetica Neue"/>
                <a:ea typeface="Helvetica Neue"/>
                <a:cs typeface="Helvetica Neue"/>
              </a:rPr>
              <a:t>DINO finds more objects, but its current threshold also produces many false alerts.</a:t>
            </a:r>
          </a:p>
        </p:txBody>
      </p:sp>
      <p:sp>
        <p:nvSpPr>
          <p:cNvPr id="6" name="">
            <a:extLst xmlns:a="http://schemas.openxmlformats.org/drawingml/2006/main">
              <a:ext uri="{FF2B5EF4-FFF2-40B4-BE49-F238E27FC236}">
                <a16:creationId xmlns:a16="http://schemas.microsoft.com/office/drawing/2014/main" id="{6ACB3848-75FE-48EB-B14A-9087FB09CE87}"/>
              </a:ext>
            </a:extLst>
          </p:cNvPr>
          <p:cNvSpPr>
            <a:spLocks xmlns:a="http://schemas.openxmlformats.org/drawingml/2006/main" noGrp="1"/>
          </p:cNvSpPr>
          <p:nvPr/>
        </p:nvSpPr>
        <p:spPr>
          <a:xfrm xmlns:a="http://schemas.openxmlformats.org/drawingml/2006/main">
            <a:off x="666750" y="5991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77A"/>
                </a:solidFill>
                <a:latin typeface="Helvetica Neue"/>
                <a:ea typeface="Helvetica Neue"/>
                <a:cs typeface="Helvetica Neue"/>
              </a:defRPr>
            </a:defPPr>
          </a:lstStyle>
          <a:p xmlns:a="http://schemas.openxmlformats.org/drawingml/2006/main">
            <a:pPr>
              <a:defRPr sz="1500" b="0">
                <a:solidFill>
                  <a:srgbClr val="52677A"/>
                </a:solidFill>
                <a:latin typeface="Helvetica Neue"/>
                <a:ea typeface="Helvetica Neue"/>
                <a:cs typeface="Helvetica Neue"/>
              </a:defRPr>
            </a:pPr>
            <a:r>
              <a:rPr sz="1500" b="0">
                <a:solidFill>
                  <a:srgbClr val="52677A"/>
                </a:solidFill>
                <a:latin typeface="Helvetica Neue"/>
                <a:ea typeface="Helvetica Neue"/>
                <a:cs typeface="Helvetica Neue"/>
              </a:rPr>
              <a:t>70 shared images. YOLO confidence 0.25, DINO 0.35. Matching IoU 0.5.</a:t>
            </a:r>
          </a:p>
        </p:txBody>
      </p:sp>
    </p:spTree>
    <p:extLst>
      <p:ext uri="{BB962C8B-B14F-4D97-AF65-F5344CB8AC3E}">
        <p14:creationId xmlns:p14="http://schemas.microsoft.com/office/powerpoint/2010/main" val="3303803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8F64E3-C627-4F2B-978A-1EBD1ED67C54}"/>
              </a:ext>
            </a:extLst>
          </p:cNvPr>
          <p:cNvSpPr>
            <a:spLocks xmlns:a="http://schemas.openxmlformats.org/drawingml/2006/main" noGrp="1"/>
          </p:cNvSpPr>
          <p:nvPr/>
        </p:nvSpPr>
        <p:spPr>
          <a:xfrm xmlns:a="http://schemas.openxmlformats.org/drawingml/2006/main">
            <a:off x="609600" y="400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0"/>
                </a:solidFill>
                <a:latin typeface="Helvetica Neue"/>
                <a:ea typeface="Helvetica Neue"/>
                <a:cs typeface="Helvetica Neue"/>
              </a:defRPr>
            </a:defPPr>
          </a:lstStyle>
          <a:p xmlns:a="http://schemas.openxmlformats.org/drawingml/2006/main">
            <a:pPr>
              <a:defRPr sz="3300" b="1">
                <a:solidFill>
                  <a:srgbClr val="172B40"/>
                </a:solidFill>
                <a:latin typeface="Helvetica Neue"/>
                <a:ea typeface="Helvetica Neue"/>
                <a:cs typeface="Helvetica Neue"/>
              </a:defRPr>
            </a:pPr>
            <a:r>
              <a:rPr sz="3300" b="1">
                <a:solidFill>
                  <a:srgbClr val="172B40"/>
                </a:solidFill>
                <a:latin typeface="Helvetica Neue"/>
                <a:ea typeface="Helvetica Neue"/>
                <a:cs typeface="Helvetica Neue"/>
              </a:rPr>
              <a:t>Fine-tuned YOLO now supports four classes</a:t>
            </a:r>
          </a:p>
        </p:txBody>
      </p:sp>
      <p:sp>
        <p:nvSpPr>
          <p:cNvPr id="2" name="">
            <a:extLst xmlns:a="http://schemas.openxmlformats.org/drawingml/2006/main">
              <a:ext uri="{FF2B5EF4-FFF2-40B4-BE49-F238E27FC236}">
                <a16:creationId xmlns:a16="http://schemas.microsoft.com/office/drawing/2014/main" id="{D2B5C058-B926-4125-85ED-C7F8D9ED77E5}"/>
              </a:ext>
            </a:extLst>
          </p:cNvPr>
          <p:cNvSpPr>
            <a:spLocks xmlns:a="http://schemas.openxmlformats.org/drawingml/2006/main" noGrp="1"/>
          </p:cNvSpPr>
          <p:nvPr/>
        </p:nvSpPr>
        <p:spPr>
          <a:xfrm xmlns:a="http://schemas.openxmlformats.org/drawingml/2006/main">
            <a:off x="609600" y="64484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77A"/>
                </a:solidFill>
                <a:latin typeface="Helvetica Neue"/>
                <a:ea typeface="Helvetica Neue"/>
                <a:cs typeface="Helvetica Neue"/>
              </a:defRPr>
            </a:defPPr>
          </a:lstStyle>
          <a:p xmlns:a="http://schemas.openxmlformats.org/drawingml/2006/main">
            <a:pPr>
              <a:defRPr sz="1350" b="0">
                <a:solidFill>
                  <a:srgbClr val="52677A"/>
                </a:solidFill>
                <a:latin typeface="Helvetica Neue"/>
                <a:ea typeface="Helvetica Neue"/>
                <a:cs typeface="Helvetica Neue"/>
              </a:defRPr>
            </a:pPr>
            <a:r>
              <a:rPr sz="1350" b="0">
                <a:solidFill>
                  <a:srgbClr val="52677A"/>
                </a:solidFill>
                <a:latin typeface="Helvetica Neue"/>
                <a:ea typeface="Helvetica Neue"/>
                <a:cs typeface="Helvetica Neue"/>
              </a:rPr>
              <a:t>CakGo   /   17 October 2026   /   6</a:t>
            </a:r>
          </a:p>
        </p:txBody>
      </p:sp>
      <p:graphicFrame>
        <p:nvGraphicFramePr>
          <p:cNvPr id="3" name="">
            <a:extLst xmlns:a="http://schemas.openxmlformats.org/drawingml/2006/main">
              <a:ext uri="{FF2B5EF4-FFF2-40B4-BE49-F238E27FC236}">
                <a16:creationId xmlns:a16="http://schemas.microsoft.com/office/drawing/2014/main" id="{CA1795BA-5AFC-4629-B7A4-277EFFA43FD1}"/>
              </a:ext>
            </a:extLst>
          </p:cNvPr>
          <p:cNvGraphicFramePr/>
          <p:nvPr/>
        </p:nvGraphicFramePr>
        <p:xfrm>
          <a:off xmlns:a="http://schemas.openxmlformats.org/drawingml/2006/main" x="609600" y="1524000"/>
          <a:ext xmlns:a="http://schemas.openxmlformats.org/drawingml/2006/main" cx="10972800" cy="3476625"/>
        </p:xfrm>
        <a:graphic xmlns:a="http://schemas.openxmlformats.org/drawingml/2006/main">
          <a:graphicData uri="http://schemas.openxmlformats.org/drawingml/2006/table">
            <a:tbl>
              <a:tblPr/>
              <a:tblGrid>
                <a:gridCol w="3048000"/>
                <a:gridCol w="2000250"/>
                <a:gridCol w="2000250"/>
                <a:gridCol w="2000250"/>
                <a:gridCol w="1924050"/>
              </a:tblGrid>
              <a:tr h="695325">
                <a:tc>
                  <a:txBody>
                    <a:bodyPr/>
                    <a:lstStyle/>
                    <a:p>
                      <a:r>
                        <a:rPr sz="1725" b="1">
                          <a:solidFill>
                            <a:srgbClr val="FFFFFF"/>
                          </a:solidFill>
                          <a:latin typeface="Helvetica Neue"/>
                          <a:ea typeface="Helvetica Neue"/>
                          <a:cs typeface="Helvetica Neue"/>
                        </a:rPr>
                        <a:t>Category</a:t>
                      </a:r>
                    </a:p>
                  </a:txBody>
                  <a:tcPr marL="114300" marR="114300" marT="85725" marB="85725" anchor="ctr">
                    <a:lnL w="9525">
                      <a:solidFill>
                        <a:srgbClr val="D9E1E8"/>
                      </a:solidFill>
                      <a:prstDash val="solid"/>
                    </a:lnL>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c>
                  <a:txBody>
                    <a:bodyPr/>
                    <a:lstStyle/>
                    <a:p>
                      <a:r>
                        <a:rPr sz="1725" b="1">
                          <a:solidFill>
                            <a:srgbClr val="FFFFFF"/>
                          </a:solidFill>
                          <a:latin typeface="Helvetica Neue"/>
                          <a:ea typeface="Helvetica Neue"/>
                          <a:cs typeface="Helvetica Neue"/>
                        </a:rPr>
                        <a:t>Precision</a:t>
                      </a:r>
                    </a:p>
                  </a:txBody>
                  <a:tcPr marL="114300" marR="114300" marT="85725" marB="85725" anchor="ctr">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c>
                  <a:txBody>
                    <a:bodyPr/>
                    <a:lstStyle/>
                    <a:p>
                      <a:r>
                        <a:rPr sz="1725" b="1">
                          <a:solidFill>
                            <a:srgbClr val="FFFFFF"/>
                          </a:solidFill>
                          <a:latin typeface="Helvetica Neue"/>
                          <a:ea typeface="Helvetica Neue"/>
                          <a:cs typeface="Helvetica Neue"/>
                        </a:rPr>
                        <a:t>Recall</a:t>
                      </a:r>
                    </a:p>
                  </a:txBody>
                  <a:tcPr marL="114300" marR="114300" marT="85725" marB="85725" anchor="ctr">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c>
                  <a:txBody>
                    <a:bodyPr/>
                    <a:lstStyle/>
                    <a:p>
                      <a:r>
                        <a:rPr sz="1725" b="1">
                          <a:solidFill>
                            <a:srgbClr val="FFFFFF"/>
                          </a:solidFill>
                          <a:latin typeface="Helvetica Neue"/>
                          <a:ea typeface="Helvetica Neue"/>
                          <a:cs typeface="Helvetica Neue"/>
                        </a:rPr>
                        <a:t>AP50</a:t>
                      </a:r>
                    </a:p>
                  </a:txBody>
                  <a:tcPr marL="114300" marR="114300" marT="85725" marB="85725" anchor="ctr">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c>
                  <a:txBody>
                    <a:bodyPr/>
                    <a:lstStyle/>
                    <a:p>
                      <a:r>
                        <a:rPr sz="1725" b="1">
                          <a:solidFill>
                            <a:srgbClr val="FFFFFF"/>
                          </a:solidFill>
                          <a:latin typeface="Helvetica Neue"/>
                          <a:ea typeface="Helvetica Neue"/>
                          <a:cs typeface="Helvetica Neue"/>
                        </a:rPr>
                        <a:t>FP images</a:t>
                      </a:r>
                    </a:p>
                  </a:txBody>
                  <a:tcPr marL="114300" marR="114300" marT="85725" marB="85725" anchor="ctr">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r>
              <a:tr h="695325">
                <a:tc>
                  <a:txBody>
                    <a:bodyPr/>
                    <a:lstStyle/>
                    <a:p>
                      <a:r>
                        <a:rPr sz="1800">
                          <a:solidFill>
                            <a:srgbClr val="172B40"/>
                          </a:solidFill>
                          <a:latin typeface="Helvetica Neue"/>
                          <a:ea typeface="Helvetica Neue"/>
                          <a:cs typeface="Helvetica Neue"/>
                        </a:rPr>
                        <a:t>wallet</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0.6875</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0.6471</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0.8057</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0 / 10</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r>
              <a:tr h="695325">
                <a:tc>
                  <a:txBody>
                    <a:bodyPr/>
                    <a:lstStyle/>
                    <a:p>
                      <a:r>
                        <a:rPr sz="1800">
                          <a:solidFill>
                            <a:srgbClr val="172B40"/>
                          </a:solidFill>
                          <a:latin typeface="Helvetica Neue"/>
                          <a:ea typeface="Helvetica Neue"/>
                          <a:cs typeface="Helvetica Neue"/>
                        </a:rPr>
                        <a:t>keys</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0.9688</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0.9688</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0.9678</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0 / 10</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r>
              <a:tr h="695325">
                <a:tc>
                  <a:txBody>
                    <a:bodyPr/>
                    <a:lstStyle/>
                    <a:p>
                      <a:r>
                        <a:rPr sz="1800">
                          <a:solidFill>
                            <a:srgbClr val="172B40"/>
                          </a:solidFill>
                          <a:latin typeface="Helvetica Neue"/>
                          <a:ea typeface="Helvetica Neue"/>
                          <a:cs typeface="Helvetica Neue"/>
                        </a:rPr>
                        <a:t>glasses</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1.0000</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0.9444</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1.0000</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0 / 10</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r>
              <a:tr h="695325">
                <a:tc>
                  <a:txBody>
                    <a:bodyPr/>
                    <a:lstStyle/>
                    <a:p>
                      <a:r>
                        <a:rPr sz="1800">
                          <a:solidFill>
                            <a:srgbClr val="172B40"/>
                          </a:solidFill>
                          <a:latin typeface="Helvetica Neue"/>
                          <a:ea typeface="Helvetica Neue"/>
                          <a:cs typeface="Helvetica Neue"/>
                        </a:rPr>
                        <a:t>remote control</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1.0000</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0.9444</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1.0000</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0 / 10</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9AAD314-D944-40E4-B6EC-D01F0C88766C}"/>
              </a:ext>
            </a:extLst>
          </p:cNvPr>
          <p:cNvSpPr>
            <a:spLocks xmlns:a="http://schemas.openxmlformats.org/drawingml/2006/main" noGrp="1"/>
          </p:cNvSpPr>
          <p:nvPr/>
        </p:nvSpPr>
        <p:spPr>
          <a:xfrm xmlns:a="http://schemas.openxmlformats.org/drawingml/2006/main">
            <a:off x="666750" y="52959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C83"/>
                </a:solidFill>
                <a:latin typeface="Helvetica Neue"/>
                <a:ea typeface="Helvetica Neue"/>
                <a:cs typeface="Helvetica Neue"/>
              </a:defRPr>
            </a:defPPr>
          </a:lstStyle>
          <a:p xmlns:a="http://schemas.openxmlformats.org/drawingml/2006/main">
            <a:pPr>
              <a:defRPr sz="2175" b="1">
                <a:solidFill>
                  <a:srgbClr val="007C83"/>
                </a:solidFill>
                <a:latin typeface="Helvetica Neue"/>
                <a:ea typeface="Helvetica Neue"/>
                <a:cs typeface="Helvetica Neue"/>
              </a:defRPr>
            </a:pPr>
            <a:r>
              <a:rPr sz="2175" b="1">
                <a:solidFill>
                  <a:srgbClr val="007C83"/>
                </a:solidFill>
                <a:latin typeface="Helvetica Neue"/>
                <a:ea typeface="Helvetica Neue"/>
                <a:cs typeface="Helvetica Neue"/>
              </a:rPr>
              <a:t>Mean AP50: 0.9434. Wallet remains the weakest category.</a:t>
            </a:r>
          </a:p>
        </p:txBody>
      </p:sp>
      <p:sp>
        <p:nvSpPr>
          <p:cNvPr id="5" name="">
            <a:extLst xmlns:a="http://schemas.openxmlformats.org/drawingml/2006/main">
              <a:ext uri="{FF2B5EF4-FFF2-40B4-BE49-F238E27FC236}">
                <a16:creationId xmlns:a16="http://schemas.microsoft.com/office/drawing/2014/main" id="{96EDD07E-3C5B-44F7-A844-9C86F9E64A55}"/>
              </a:ext>
            </a:extLst>
          </p:cNvPr>
          <p:cNvSpPr>
            <a:spLocks xmlns:a="http://schemas.openxmlformats.org/drawingml/2006/main" noGrp="1"/>
          </p:cNvSpPr>
          <p:nvPr/>
        </p:nvSpPr>
        <p:spPr>
          <a:xfrm xmlns:a="http://schemas.openxmlformats.org/drawingml/2006/main">
            <a:off x="666750" y="59817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77A"/>
                </a:solidFill>
                <a:latin typeface="Helvetica Neue"/>
                <a:ea typeface="Helvetica Neue"/>
                <a:cs typeface="Helvetica Neue"/>
              </a:defRPr>
            </a:defPPr>
          </a:lstStyle>
          <a:p xmlns:a="http://schemas.openxmlformats.org/drawingml/2006/main">
            <a:pPr>
              <a:defRPr sz="1500" b="0">
                <a:solidFill>
                  <a:srgbClr val="52677A"/>
                </a:solidFill>
                <a:latin typeface="Helvetica Neue"/>
                <a:ea typeface="Helvetica Neue"/>
                <a:cs typeface="Helvetica Neue"/>
              </a:defRPr>
            </a:pPr>
            <a:r>
              <a:rPr sz="1500" b="0">
                <a:solidFill>
                  <a:srgbClr val="52677A"/>
                </a:solidFill>
                <a:latin typeface="Helvetica Neue"/>
                <a:ea typeface="Helvetica Neue"/>
                <a:cs typeface="Helvetica Neue"/>
              </a:rPr>
              <a:t>Confidence 0.25. Same-source test set. Real-phone generalization remains untested.</a:t>
            </a:r>
          </a:p>
        </p:txBody>
      </p:sp>
    </p:spTree>
    <p:extLst>
      <p:ext uri="{BB962C8B-B14F-4D97-AF65-F5344CB8AC3E}">
        <p14:creationId xmlns:p14="http://schemas.microsoft.com/office/powerpoint/2010/main" val="21050461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81A76B-FCE1-40A9-A7F6-C7C035B94AEE}"/>
              </a:ext>
            </a:extLst>
          </p:cNvPr>
          <p:cNvSpPr>
            <a:spLocks xmlns:a="http://schemas.openxmlformats.org/drawingml/2006/main" noGrp="1"/>
          </p:cNvSpPr>
          <p:nvPr/>
        </p:nvSpPr>
        <p:spPr>
          <a:xfrm xmlns:a="http://schemas.openxmlformats.org/drawingml/2006/main">
            <a:off x="609600" y="400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0"/>
                </a:solidFill>
                <a:latin typeface="Helvetica Neue"/>
                <a:ea typeface="Helvetica Neue"/>
                <a:cs typeface="Helvetica Neue"/>
              </a:defRPr>
            </a:defPPr>
          </a:lstStyle>
          <a:p xmlns:a="http://schemas.openxmlformats.org/drawingml/2006/main">
            <a:pPr>
              <a:defRPr sz="3300" b="1">
                <a:solidFill>
                  <a:srgbClr val="172B40"/>
                </a:solidFill>
                <a:latin typeface="Helvetica Neue"/>
                <a:ea typeface="Helvetica Neue"/>
                <a:cs typeface="Helvetica Neue"/>
              </a:defRPr>
            </a:pPr>
            <a:r>
              <a:rPr sz="3300" b="1">
                <a:solidFill>
                  <a:srgbClr val="172B40"/>
                </a:solidFill>
                <a:latin typeface="Helvetica Neue"/>
                <a:ea typeface="Helvetica Neue"/>
                <a:cs typeface="Helvetica Neue"/>
              </a:rPr>
              <a:t>False alerts on ten target-free images</a:t>
            </a:r>
          </a:p>
        </p:txBody>
      </p:sp>
      <p:sp>
        <p:nvSpPr>
          <p:cNvPr id="2" name="">
            <a:extLst xmlns:a="http://schemas.openxmlformats.org/drawingml/2006/main">
              <a:ext uri="{FF2B5EF4-FFF2-40B4-BE49-F238E27FC236}">
                <a16:creationId xmlns:a16="http://schemas.microsoft.com/office/drawing/2014/main" id="{D4E6F8D0-B94E-4043-B7F9-65EF8C8A23D6}"/>
              </a:ext>
            </a:extLst>
          </p:cNvPr>
          <p:cNvSpPr>
            <a:spLocks xmlns:a="http://schemas.openxmlformats.org/drawingml/2006/main" noGrp="1"/>
          </p:cNvSpPr>
          <p:nvPr/>
        </p:nvSpPr>
        <p:spPr>
          <a:xfrm xmlns:a="http://schemas.openxmlformats.org/drawingml/2006/main">
            <a:off x="609600" y="64484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77A"/>
                </a:solidFill>
                <a:latin typeface="Helvetica Neue"/>
                <a:ea typeface="Helvetica Neue"/>
                <a:cs typeface="Helvetica Neue"/>
              </a:defRPr>
            </a:defPPr>
          </a:lstStyle>
          <a:p xmlns:a="http://schemas.openxmlformats.org/drawingml/2006/main">
            <a:pPr>
              <a:defRPr sz="1350" b="0">
                <a:solidFill>
                  <a:srgbClr val="52677A"/>
                </a:solidFill>
                <a:latin typeface="Helvetica Neue"/>
                <a:ea typeface="Helvetica Neue"/>
                <a:cs typeface="Helvetica Neue"/>
              </a:defRPr>
            </a:pPr>
            <a:r>
              <a:rPr sz="1350" b="0">
                <a:solidFill>
                  <a:srgbClr val="52677A"/>
                </a:solidFill>
                <a:latin typeface="Helvetica Neue"/>
                <a:ea typeface="Helvetica Neue"/>
                <a:cs typeface="Helvetica Neue"/>
              </a:rPr>
              <a:t>CakGo   /   17 October 2026   /   7</a:t>
            </a:r>
          </a:p>
        </p:txBody>
      </p:sp>
      <p:graphicFrame>
        <p:nvGraphicFramePr>
          <p:cNvPr id="3" name="Chart">
            <a:extLst xmlns:a="http://schemas.openxmlformats.org/drawingml/2006/main">
              <a:ext uri="{FF2B5EF4-FFF2-40B4-BE49-F238E27FC236}">
                <a16:creationId xmlns:a16="http://schemas.microsoft.com/office/drawing/2014/main" id="{774ABE20-EC72-492B-BEAF-F9CC54358B7B}"/>
              </a:ext>
            </a:extLst>
          </p:cNvPr>
          <p:cNvGraphicFramePr/>
          <p:nvPr/>
        </p:nvGraphicFramePr>
        <p:xfrm>
          <a:off xmlns:a="http://schemas.openxmlformats.org/drawingml/2006/main" x="762000" y="1466850"/>
          <a:ext xmlns:a="http://schemas.openxmlformats.org/drawingml/2006/main" cx="10572750" cy="3638550"/>
        </p:xfrm>
        <a:graphic xmlns:a="http://schemas.openxmlformats.org/drawingml/2006/main">
          <a:graphicData uri="http://schemas.openxmlformats.org/drawingml/2006/chart">
            <c:chart xmlns:r="http://schemas.openxmlformats.org/officeDocument/2006/relationships" xmlns:c="http://schemas.openxmlformats.org/drawingml/2006/chart" r:id="R091314272ab543b6"/>
          </a:graphicData>
        </a:graphic>
      </p:graphicFrame>
      <p:sp>
        <p:nvSpPr>
          <p:cNvPr id="4" name="">
            <a:extLst xmlns:a="http://schemas.openxmlformats.org/drawingml/2006/main">
              <a:ext uri="{FF2B5EF4-FFF2-40B4-BE49-F238E27FC236}">
                <a16:creationId xmlns:a16="http://schemas.microsoft.com/office/drawing/2014/main" id="{042EB668-6564-42CB-BEE6-1AF7E78FA5C6}"/>
              </a:ext>
            </a:extLst>
          </p:cNvPr>
          <p:cNvSpPr>
            <a:spLocks xmlns:a="http://schemas.openxmlformats.org/drawingml/2006/main" noGrp="1"/>
          </p:cNvSpPr>
          <p:nvPr/>
        </p:nvSpPr>
        <p:spPr>
          <a:xfrm xmlns:a="http://schemas.openxmlformats.org/drawingml/2006/main">
            <a:off x="666750" y="53625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C83"/>
                </a:solidFill>
                <a:latin typeface="Helvetica Neue"/>
                <a:ea typeface="Helvetica Neue"/>
                <a:cs typeface="Helvetica Neue"/>
              </a:defRPr>
            </a:defPPr>
          </a:lstStyle>
          <a:p xmlns:a="http://schemas.openxmlformats.org/drawingml/2006/main">
            <a:pPr>
              <a:defRPr sz="2175" b="1">
                <a:solidFill>
                  <a:srgbClr val="007C83"/>
                </a:solidFill>
                <a:latin typeface="Helvetica Neue"/>
                <a:ea typeface="Helvetica Neue"/>
                <a:cs typeface="Helvetica Neue"/>
              </a:defRPr>
            </a:pPr>
            <a:r>
              <a:rPr sz="2175" b="1">
                <a:solidFill>
                  <a:srgbClr val="007C83"/>
                </a:solidFill>
                <a:latin typeface="Helvetica Neue"/>
                <a:ea typeface="Helvetica Neue"/>
                <a:cs typeface="Helvetica Neue"/>
              </a:rPr>
              <a:t>DINO false alerts remain a concern for spoken directions.</a:t>
            </a:r>
          </a:p>
        </p:txBody>
      </p:sp>
      <p:sp>
        <p:nvSpPr>
          <p:cNvPr id="5" name="">
            <a:extLst xmlns:a="http://schemas.openxmlformats.org/drawingml/2006/main">
              <a:ext uri="{FF2B5EF4-FFF2-40B4-BE49-F238E27FC236}">
                <a16:creationId xmlns:a16="http://schemas.microsoft.com/office/drawing/2014/main" id="{2CBD788F-3933-418D-A8E0-E4B410048526}"/>
              </a:ext>
            </a:extLst>
          </p:cNvPr>
          <p:cNvSpPr>
            <a:spLocks xmlns:a="http://schemas.openxmlformats.org/drawingml/2006/main" noGrp="1"/>
          </p:cNvSpPr>
          <p:nvPr/>
        </p:nvSpPr>
        <p:spPr>
          <a:xfrm xmlns:a="http://schemas.openxmlformats.org/drawingml/2006/main">
            <a:off x="666750" y="59150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77A"/>
                </a:solidFill>
                <a:latin typeface="Helvetica Neue"/>
                <a:ea typeface="Helvetica Neue"/>
                <a:cs typeface="Helvetica Neue"/>
              </a:defRPr>
            </a:defPPr>
          </a:lstStyle>
          <a:p xmlns:a="http://schemas.openxmlformats.org/drawingml/2006/main">
            <a:pPr>
              <a:defRPr sz="1725" b="0">
                <a:solidFill>
                  <a:srgbClr val="52677A"/>
                </a:solidFill>
                <a:latin typeface="Helvetica Neue"/>
                <a:ea typeface="Helvetica Neue"/>
                <a:cs typeface="Helvetica Neue"/>
              </a:defRPr>
            </a:pPr>
            <a:r>
              <a:rPr sz="1725" b="0">
                <a:solidFill>
                  <a:srgbClr val="52677A"/>
                </a:solidFill>
                <a:latin typeface="Helvetica Neue"/>
                <a:ea typeface="Helvetica Neue"/>
                <a:cs typeface="Helvetica Neue"/>
              </a:rPr>
              <a:t>A small negative sample cannot establish real-world reliability.</a:t>
            </a:r>
          </a:p>
        </p:txBody>
      </p:sp>
    </p:spTree>
    <p:extLst>
      <p:ext uri="{BB962C8B-B14F-4D97-AF65-F5344CB8AC3E}">
        <p14:creationId xmlns:p14="http://schemas.microsoft.com/office/powerpoint/2010/main" val="1507391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F4452C-6194-44C0-A25D-D1243D1C2C92}"/>
              </a:ext>
            </a:extLst>
          </p:cNvPr>
          <p:cNvSpPr>
            <a:spLocks xmlns:a="http://schemas.openxmlformats.org/drawingml/2006/main" noGrp="1"/>
          </p:cNvSpPr>
          <p:nvPr/>
        </p:nvSpPr>
        <p:spPr>
          <a:xfrm xmlns:a="http://schemas.openxmlformats.org/drawingml/2006/main">
            <a:off x="609600" y="400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0"/>
                </a:solidFill>
                <a:latin typeface="Helvetica Neue"/>
                <a:ea typeface="Helvetica Neue"/>
                <a:cs typeface="Helvetica Neue"/>
              </a:defRPr>
            </a:defPPr>
          </a:lstStyle>
          <a:p xmlns:a="http://schemas.openxmlformats.org/drawingml/2006/main">
            <a:pPr>
              <a:defRPr sz="3300" b="1">
                <a:solidFill>
                  <a:srgbClr val="172B40"/>
                </a:solidFill>
                <a:latin typeface="Helvetica Neue"/>
                <a:ea typeface="Helvetica Neue"/>
                <a:cs typeface="Helvetica Neue"/>
              </a:defRPr>
            </a:pPr>
            <a:r>
              <a:rPr sz="3300" b="1">
                <a:solidFill>
                  <a:srgbClr val="172B40"/>
                </a:solidFill>
                <a:latin typeface="Helvetica Neue"/>
                <a:ea typeface="Helvetica Neue"/>
                <a:cs typeface="Helvetica Neue"/>
              </a:rPr>
              <a:t>Model request time and hardware</a:t>
            </a:r>
          </a:p>
        </p:txBody>
      </p:sp>
      <p:sp>
        <p:nvSpPr>
          <p:cNvPr id="2" name="">
            <a:extLst xmlns:a="http://schemas.openxmlformats.org/drawingml/2006/main">
              <a:ext uri="{FF2B5EF4-FFF2-40B4-BE49-F238E27FC236}">
                <a16:creationId xmlns:a16="http://schemas.microsoft.com/office/drawing/2014/main" id="{FFC4A952-EAB6-431B-8FA6-B541171B6CBE}"/>
              </a:ext>
            </a:extLst>
          </p:cNvPr>
          <p:cNvSpPr>
            <a:spLocks xmlns:a="http://schemas.openxmlformats.org/drawingml/2006/main" noGrp="1"/>
          </p:cNvSpPr>
          <p:nvPr/>
        </p:nvSpPr>
        <p:spPr>
          <a:xfrm xmlns:a="http://schemas.openxmlformats.org/drawingml/2006/main">
            <a:off x="609600" y="64484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77A"/>
                </a:solidFill>
                <a:latin typeface="Helvetica Neue"/>
                <a:ea typeface="Helvetica Neue"/>
                <a:cs typeface="Helvetica Neue"/>
              </a:defRPr>
            </a:defPPr>
          </a:lstStyle>
          <a:p xmlns:a="http://schemas.openxmlformats.org/drawingml/2006/main">
            <a:pPr>
              <a:defRPr sz="1350" b="0">
                <a:solidFill>
                  <a:srgbClr val="52677A"/>
                </a:solidFill>
                <a:latin typeface="Helvetica Neue"/>
                <a:ea typeface="Helvetica Neue"/>
                <a:cs typeface="Helvetica Neue"/>
              </a:defRPr>
            </a:pPr>
            <a:r>
              <a:rPr sz="1350" b="0">
                <a:solidFill>
                  <a:srgbClr val="52677A"/>
                </a:solidFill>
                <a:latin typeface="Helvetica Neue"/>
                <a:ea typeface="Helvetica Neue"/>
                <a:cs typeface="Helvetica Neue"/>
              </a:rPr>
              <a:t>CakGo   /   17 October 2026   /   8</a:t>
            </a:r>
          </a:p>
        </p:txBody>
      </p:sp>
      <p:graphicFrame>
        <p:nvGraphicFramePr>
          <p:cNvPr id="3" name="">
            <a:extLst xmlns:a="http://schemas.openxmlformats.org/drawingml/2006/main">
              <a:ext uri="{FF2B5EF4-FFF2-40B4-BE49-F238E27FC236}">
                <a16:creationId xmlns:a16="http://schemas.microsoft.com/office/drawing/2014/main" id="{1813318D-2E83-4D69-B522-8F8C176C74E0}"/>
              </a:ext>
            </a:extLst>
          </p:cNvPr>
          <p:cNvGraphicFramePr/>
          <p:nvPr/>
        </p:nvGraphicFramePr>
        <p:xfrm>
          <a:off xmlns:a="http://schemas.openxmlformats.org/drawingml/2006/main" x="609600" y="1524000"/>
          <a:ext xmlns:a="http://schemas.openxmlformats.org/drawingml/2006/main" cx="10972800" cy="2952750"/>
        </p:xfrm>
        <a:graphic xmlns:a="http://schemas.openxmlformats.org/drawingml/2006/main">
          <a:graphicData uri="http://schemas.openxmlformats.org/drawingml/2006/table">
            <a:tbl>
              <a:tblPr/>
              <a:tblGrid>
                <a:gridCol w="4667250"/>
                <a:gridCol w="3810000"/>
                <a:gridCol w="2495550"/>
              </a:tblGrid>
              <a:tr h="738188">
                <a:tc>
                  <a:txBody>
                    <a:bodyPr/>
                    <a:lstStyle/>
                    <a:p>
                      <a:r>
                        <a:rPr sz="1725" b="1">
                          <a:solidFill>
                            <a:srgbClr val="FFFFFF"/>
                          </a:solidFill>
                          <a:latin typeface="Helvetica Neue"/>
                          <a:ea typeface="Helvetica Neue"/>
                          <a:cs typeface="Helvetica Neue"/>
                        </a:rPr>
                        <a:t>Model</a:t>
                      </a:r>
                    </a:p>
                  </a:txBody>
                  <a:tcPr marL="114300" marR="114300" marT="85725" marB="85725" anchor="ctr">
                    <a:lnL w="9525">
                      <a:solidFill>
                        <a:srgbClr val="D9E1E8"/>
                      </a:solidFill>
                      <a:prstDash val="solid"/>
                    </a:lnL>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c>
                  <a:txBody>
                    <a:bodyPr/>
                    <a:lstStyle/>
                    <a:p>
                      <a:r>
                        <a:rPr sz="1725" b="1">
                          <a:solidFill>
                            <a:srgbClr val="FFFFFF"/>
                          </a:solidFill>
                          <a:latin typeface="Helvetica Neue"/>
                          <a:ea typeface="Helvetica Neue"/>
                          <a:cs typeface="Helvetica Neue"/>
                        </a:rPr>
                        <a:t>GPU</a:t>
                      </a:r>
                    </a:p>
                  </a:txBody>
                  <a:tcPr marL="114300" marR="114300" marT="85725" marB="85725" anchor="ctr">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c>
                  <a:txBody>
                    <a:bodyPr/>
                    <a:lstStyle/>
                    <a:p>
                      <a:r>
                        <a:rPr sz="1725" b="1">
                          <a:solidFill>
                            <a:srgbClr val="FFFFFF"/>
                          </a:solidFill>
                          <a:latin typeface="Helvetica Neue"/>
                          <a:ea typeface="Helvetica Neue"/>
                          <a:cs typeface="Helvetica Neue"/>
                        </a:rPr>
                        <a:t>Mean request</a:t>
                      </a:r>
                    </a:p>
                  </a:txBody>
                  <a:tcPr marL="114300" marR="114300" marT="85725" marB="85725" anchor="ctr">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r>
              <a:tr h="738188">
                <a:tc>
                  <a:txBody>
                    <a:bodyPr/>
                    <a:lstStyle/>
                    <a:p>
                      <a:r>
                        <a:rPr sz="1800">
                          <a:solidFill>
                            <a:srgbClr val="172B40"/>
                          </a:solidFill>
                          <a:latin typeface="Helvetica Neue"/>
                          <a:ea typeface="Helvetica Neue"/>
                          <a:cs typeface="Helvetica Neue"/>
                        </a:rPr>
                        <a:t>Pretrained YOLO26s</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Colab T4</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15.25 ms</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r>
              <a:tr h="738188">
                <a:tc>
                  <a:txBody>
                    <a:bodyPr/>
                    <a:lstStyle/>
                    <a:p>
                      <a:r>
                        <a:rPr sz="1800">
                          <a:solidFill>
                            <a:srgbClr val="172B40"/>
                          </a:solidFill>
                          <a:latin typeface="Helvetica Neue"/>
                          <a:ea typeface="Helvetica Neue"/>
                          <a:cs typeface="Helvetica Neue"/>
                        </a:rPr>
                        <a:t>Grounding DINO tiny</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Same Colab T4</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333.88 ms</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r>
              <a:tr h="738188">
                <a:tc>
                  <a:txBody>
                    <a:bodyPr/>
                    <a:lstStyle/>
                    <a:p>
                      <a:r>
                        <a:rPr sz="1800">
                          <a:solidFill>
                            <a:srgbClr val="172B40"/>
                          </a:solidFill>
                          <a:latin typeface="Helvetica Neue"/>
                          <a:ea typeface="Helvetica Neue"/>
                          <a:cs typeface="Helvetica Neue"/>
                        </a:rPr>
                        <a:t>Fine-tuned YOLO26s</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RTX 4050 Laptop</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15.22 ms</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DC6E3C6C-34CA-4EA5-B116-2963C7FB3E14}"/>
              </a:ext>
            </a:extLst>
          </p:cNvPr>
          <p:cNvSpPr>
            <a:spLocks xmlns:a="http://schemas.openxmlformats.org/drawingml/2006/main" noGrp="1"/>
          </p:cNvSpPr>
          <p:nvPr/>
        </p:nvSpPr>
        <p:spPr>
          <a:xfrm xmlns:a="http://schemas.openxmlformats.org/drawingml/2006/main">
            <a:off x="666750" y="48196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40"/>
                </a:solidFill>
                <a:latin typeface="Helvetica Neue"/>
                <a:ea typeface="Helvetica Neue"/>
                <a:cs typeface="Helvetica Neue"/>
              </a:defRPr>
            </a:defPPr>
          </a:lstStyle>
          <a:p xmlns:a="http://schemas.openxmlformats.org/drawingml/2006/main">
            <a:pPr>
              <a:defRPr sz="2100" b="0">
                <a:solidFill>
                  <a:srgbClr val="172B40"/>
                </a:solidFill>
                <a:latin typeface="Helvetica Neue"/>
                <a:ea typeface="Helvetica Neue"/>
                <a:cs typeface="Helvetica Neue"/>
              </a:defRPr>
            </a:pPr>
            <a:r>
              <a:rPr sz="2100" b="0">
                <a:solidFill>
                  <a:srgbClr val="172B40"/>
                </a:solidFill>
                <a:latin typeface="Helvetica Neue"/>
                <a:ea typeface="Helvetica Neue"/>
                <a:cs typeface="Helvetica Neue"/>
              </a:rPr>
              <a:t>Only the first two rows share the same machine.</a:t>
            </a:r>
          </a:p>
        </p:txBody>
      </p:sp>
      <p:sp>
        <p:nvSpPr>
          <p:cNvPr id="5" name="">
            <a:extLst xmlns:a="http://schemas.openxmlformats.org/drawingml/2006/main">
              <a:ext uri="{FF2B5EF4-FFF2-40B4-BE49-F238E27FC236}">
                <a16:creationId xmlns:a16="http://schemas.microsoft.com/office/drawing/2014/main" id="{5153F3A6-FE8C-4D42-9C6B-F60AEDAB99BA}"/>
              </a:ext>
            </a:extLst>
          </p:cNvPr>
          <p:cNvSpPr>
            <a:spLocks xmlns:a="http://schemas.openxmlformats.org/drawingml/2006/main" noGrp="1"/>
          </p:cNvSpPr>
          <p:nvPr/>
        </p:nvSpPr>
        <p:spPr>
          <a:xfrm xmlns:a="http://schemas.openxmlformats.org/drawingml/2006/main">
            <a:off x="666750" y="55626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40"/>
                </a:solidFill>
                <a:latin typeface="Helvetica Neue"/>
                <a:ea typeface="Helvetica Neue"/>
                <a:cs typeface="Helvetica Neue"/>
              </a:defRPr>
            </a:defPPr>
          </a:lstStyle>
          <a:p xmlns:a="http://schemas.openxmlformats.org/drawingml/2006/main">
            <a:pPr>
              <a:defRPr sz="2100" b="0">
                <a:solidFill>
                  <a:srgbClr val="172B40"/>
                </a:solidFill>
                <a:latin typeface="Helvetica Neue"/>
                <a:ea typeface="Helvetica Neue"/>
                <a:cs typeface="Helvetica Neue"/>
              </a:defRPr>
            </a:pPr>
            <a:r>
              <a:rPr sz="2100" b="0">
                <a:solidFill>
                  <a:srgbClr val="172B40"/>
                </a:solidFill>
                <a:latin typeface="Helvetica Neue"/>
                <a:ea typeface="Helvetica Neue"/>
                <a:cs typeface="Helvetica Neue"/>
              </a:rPr>
              <a:t>These measurements do not represent phone FPS or camera-to-speech latency.</a:t>
            </a:r>
          </a:p>
        </p:txBody>
      </p:sp>
    </p:spTree>
    <p:extLst>
      <p:ext uri="{BB962C8B-B14F-4D97-AF65-F5344CB8AC3E}">
        <p14:creationId xmlns:p14="http://schemas.microsoft.com/office/powerpoint/2010/main" val="178588217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0E3C68-B05E-4FB3-BBB2-6651490CC949}"/>
              </a:ext>
            </a:extLst>
          </p:cNvPr>
          <p:cNvSpPr>
            <a:spLocks xmlns:a="http://schemas.openxmlformats.org/drawingml/2006/main" noGrp="1"/>
          </p:cNvSpPr>
          <p:nvPr/>
        </p:nvSpPr>
        <p:spPr>
          <a:xfrm xmlns:a="http://schemas.openxmlformats.org/drawingml/2006/main">
            <a:off x="609600" y="400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0"/>
                </a:solidFill>
                <a:latin typeface="Helvetica Neue"/>
                <a:ea typeface="Helvetica Neue"/>
                <a:cs typeface="Helvetica Neue"/>
              </a:defRPr>
            </a:defPPr>
          </a:lstStyle>
          <a:p xmlns:a="http://schemas.openxmlformats.org/drawingml/2006/main">
            <a:pPr>
              <a:defRPr sz="3300" b="1">
                <a:solidFill>
                  <a:srgbClr val="172B40"/>
                </a:solidFill>
                <a:latin typeface="Helvetica Neue"/>
                <a:ea typeface="Helvetica Neue"/>
                <a:cs typeface="Helvetica Neue"/>
              </a:defRPr>
            </a:pPr>
            <a:r>
              <a:rPr sz="3300" b="1">
                <a:solidFill>
                  <a:srgbClr val="172B40"/>
                </a:solidFill>
                <a:latin typeface="Helvetica Neue"/>
                <a:ea typeface="Helvetica Neue"/>
                <a:cs typeface="Helvetica Neue"/>
              </a:rPr>
              <a:t>Real-phone testing plan</a:t>
            </a:r>
          </a:p>
        </p:txBody>
      </p:sp>
      <p:sp>
        <p:nvSpPr>
          <p:cNvPr id="2" name="">
            <a:extLst xmlns:a="http://schemas.openxmlformats.org/drawingml/2006/main">
              <a:ext uri="{FF2B5EF4-FFF2-40B4-BE49-F238E27FC236}">
                <a16:creationId xmlns:a16="http://schemas.microsoft.com/office/drawing/2014/main" id="{FBF63F64-BEE6-4165-A5D5-236DE097D5DA}"/>
              </a:ext>
            </a:extLst>
          </p:cNvPr>
          <p:cNvSpPr>
            <a:spLocks xmlns:a="http://schemas.openxmlformats.org/drawingml/2006/main" noGrp="1"/>
          </p:cNvSpPr>
          <p:nvPr/>
        </p:nvSpPr>
        <p:spPr>
          <a:xfrm xmlns:a="http://schemas.openxmlformats.org/drawingml/2006/main">
            <a:off x="609600" y="64484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77A"/>
                </a:solidFill>
                <a:latin typeface="Helvetica Neue"/>
                <a:ea typeface="Helvetica Neue"/>
                <a:cs typeface="Helvetica Neue"/>
              </a:defRPr>
            </a:defPPr>
          </a:lstStyle>
          <a:p xmlns:a="http://schemas.openxmlformats.org/drawingml/2006/main">
            <a:pPr>
              <a:defRPr sz="1350" b="0">
                <a:solidFill>
                  <a:srgbClr val="52677A"/>
                </a:solidFill>
                <a:latin typeface="Helvetica Neue"/>
                <a:ea typeface="Helvetica Neue"/>
                <a:cs typeface="Helvetica Neue"/>
              </a:defRPr>
            </a:pPr>
            <a:r>
              <a:rPr sz="1350" b="0">
                <a:solidFill>
                  <a:srgbClr val="52677A"/>
                </a:solidFill>
                <a:latin typeface="Helvetica Neue"/>
                <a:ea typeface="Helvetica Neue"/>
                <a:cs typeface="Helvetica Neue"/>
              </a:rPr>
              <a:t>CakGo   /   17 October 2026   /   9</a:t>
            </a:r>
          </a:p>
        </p:txBody>
      </p:sp>
      <p:graphicFrame>
        <p:nvGraphicFramePr>
          <p:cNvPr id="3" name="">
            <a:extLst xmlns:a="http://schemas.openxmlformats.org/drawingml/2006/main">
              <a:ext uri="{FF2B5EF4-FFF2-40B4-BE49-F238E27FC236}">
                <a16:creationId xmlns:a16="http://schemas.microsoft.com/office/drawing/2014/main" id="{26A7C7EA-327F-4AE9-A28D-5EBA8862A54B}"/>
              </a:ext>
            </a:extLst>
          </p:cNvPr>
          <p:cNvGraphicFramePr/>
          <p:nvPr/>
        </p:nvGraphicFramePr>
        <p:xfrm>
          <a:off xmlns:a="http://schemas.openxmlformats.org/drawingml/2006/main" x="609600" y="1524000"/>
          <a:ext xmlns:a="http://schemas.openxmlformats.org/drawingml/2006/main" cx="10972800" cy="2857500"/>
        </p:xfrm>
        <a:graphic xmlns:a="http://schemas.openxmlformats.org/drawingml/2006/main">
          <a:graphicData uri="http://schemas.openxmlformats.org/drawingml/2006/table">
            <a:tbl>
              <a:tblPr/>
              <a:tblGrid>
                <a:gridCol w="6191250"/>
                <a:gridCol w="2286000"/>
                <a:gridCol w="2495550"/>
              </a:tblGrid>
              <a:tr h="714375">
                <a:tc>
                  <a:txBody>
                    <a:bodyPr/>
                    <a:lstStyle/>
                    <a:p>
                      <a:r>
                        <a:rPr sz="1725" b="1">
                          <a:solidFill>
                            <a:srgbClr val="FFFFFF"/>
                          </a:solidFill>
                          <a:latin typeface="Helvetica Neue"/>
                          <a:ea typeface="Helvetica Neue"/>
                          <a:cs typeface="Helvetica Neue"/>
                        </a:rPr>
                        <a:t>Collection</a:t>
                      </a:r>
                    </a:p>
                  </a:txBody>
                  <a:tcPr marL="114300" marR="114300" marT="85725" marB="85725" anchor="ctr">
                    <a:lnL w="9525">
                      <a:solidFill>
                        <a:srgbClr val="D9E1E8"/>
                      </a:solidFill>
                      <a:prstDash val="solid"/>
                    </a:lnL>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c>
                  <a:txBody>
                    <a:bodyPr/>
                    <a:lstStyle/>
                    <a:p>
                      <a:r>
                        <a:rPr sz="1725" b="1">
                          <a:solidFill>
                            <a:srgbClr val="FFFFFF"/>
                          </a:solidFill>
                          <a:latin typeface="Helvetica Neue"/>
                          <a:ea typeface="Helvetica Neue"/>
                          <a:cs typeface="Helvetica Neue"/>
                        </a:rPr>
                        <a:t>Per person</a:t>
                      </a:r>
                    </a:p>
                  </a:txBody>
                  <a:tcPr marL="114300" marR="114300" marT="85725" marB="85725" anchor="ctr">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c>
                  <a:txBody>
                    <a:bodyPr/>
                    <a:lstStyle/>
                    <a:p>
                      <a:r>
                        <a:rPr sz="1725" b="1">
                          <a:solidFill>
                            <a:srgbClr val="FFFFFF"/>
                          </a:solidFill>
                          <a:latin typeface="Helvetica Neue"/>
                          <a:ea typeface="Helvetica Neue"/>
                          <a:cs typeface="Helvetica Neue"/>
                        </a:rPr>
                        <a:t>Team total</a:t>
                      </a:r>
                    </a:p>
                  </a:txBody>
                  <a:tcPr marL="114300" marR="114300" marT="85725" marB="85725" anchor="ctr">
                    <a:lnR w="9525">
                      <a:solidFill>
                        <a:srgbClr val="D9E1E8"/>
                      </a:solidFill>
                      <a:prstDash val="solid"/>
                    </a:lnR>
                    <a:lnT w="9525">
                      <a:solidFill>
                        <a:srgbClr val="D9E1E8"/>
                      </a:solidFill>
                      <a:prstDash val="solid"/>
                    </a:lnT>
                    <a:lnB w="9525">
                      <a:solidFill>
                        <a:srgbClr val="D9E1E8"/>
                      </a:solidFill>
                      <a:prstDash val="solid"/>
                    </a:lnB>
                    <a:solidFill>
                      <a:srgbClr val="172B40"/>
                    </a:solidFill>
                  </a:tcPr>
                </a:tc>
              </a:tr>
              <a:tr h="714375">
                <a:tc>
                  <a:txBody>
                    <a:bodyPr/>
                    <a:lstStyle/>
                    <a:p>
                      <a:r>
                        <a:rPr sz="1800">
                          <a:solidFill>
                            <a:srgbClr val="172B40"/>
                          </a:solidFill>
                          <a:latin typeface="Helvetica Neue"/>
                          <a:ea typeface="Helvetica Neue"/>
                          <a:cs typeface="Helvetica Neue"/>
                        </a:rPr>
                        <a:t>Wallet / keys / glasses / remote</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6 each</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72 object photos</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r>
              <a:tr h="714375">
                <a:tc>
                  <a:txBody>
                    <a:bodyPr/>
                    <a:lstStyle/>
                    <a:p>
                      <a:r>
                        <a:rPr sz="1800">
                          <a:solidFill>
                            <a:srgbClr val="172B40"/>
                          </a:solidFill>
                          <a:latin typeface="Helvetica Neue"/>
                          <a:ea typeface="Helvetica Neue"/>
                          <a:cs typeface="Helvetica Neue"/>
                        </a:rPr>
                        <a:t>No target item anywhere</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4</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c>
                  <a:txBody>
                    <a:bodyPr/>
                    <a:lstStyle/>
                    <a:p>
                      <a:r>
                        <a:rPr sz="1800">
                          <a:solidFill>
                            <a:srgbClr val="172B40"/>
                          </a:solidFill>
                          <a:latin typeface="Helvetica Neue"/>
                          <a:ea typeface="Helvetica Neue"/>
                          <a:cs typeface="Helvetica Neue"/>
                        </a:rPr>
                        <a:t>12 negative photos</a:t>
                      </a:r>
                    </a:p>
                  </a:txBody>
                  <a:tcPr marL="114300" marR="114300" marT="85725" marB="85725" anchor="ctr">
                    <a:lnR w="9525">
                      <a:solidFill>
                        <a:srgbClr val="D9E1E8"/>
                      </a:solidFill>
                      <a:prstDash val="solid"/>
                    </a:lnR>
                    <a:lnB w="9525">
                      <a:solidFill>
                        <a:srgbClr val="D9E1E8"/>
                      </a:solidFill>
                      <a:prstDash val="solid"/>
                    </a:lnB>
                    <a:solidFill>
                      <a:srgbClr val="FFFFFF"/>
                    </a:solidFill>
                  </a:tcPr>
                </a:tc>
              </a:tr>
              <a:tr h="714375">
                <a:tc>
                  <a:txBody>
                    <a:bodyPr/>
                    <a:lstStyle/>
                    <a:p>
                      <a:r>
                        <a:rPr sz="1800">
                          <a:solidFill>
                            <a:srgbClr val="172B40"/>
                          </a:solidFill>
                          <a:latin typeface="Helvetica Neue"/>
                          <a:ea typeface="Helvetica Neue"/>
                          <a:cs typeface="Helvetica Neue"/>
                        </a:rPr>
                        <a:t>Total, three collectors</a:t>
                      </a:r>
                    </a:p>
                  </a:txBody>
                  <a:tcPr marL="114300" marR="114300" marT="85725" marB="85725" anchor="ctr">
                    <a:lnL w="9525">
                      <a:solidFill>
                        <a:srgbClr val="D9E1E8"/>
                      </a:solidFill>
                      <a:prstDash val="solid"/>
                    </a:lnL>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28</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c>
                  <a:txBody>
                    <a:bodyPr/>
                    <a:lstStyle/>
                    <a:p>
                      <a:r>
                        <a:rPr sz="1800">
                          <a:solidFill>
                            <a:srgbClr val="172B40"/>
                          </a:solidFill>
                          <a:latin typeface="Helvetica Neue"/>
                          <a:ea typeface="Helvetica Neue"/>
                          <a:cs typeface="Helvetica Neue"/>
                        </a:rPr>
                        <a:t>84 planned photos</a:t>
                      </a:r>
                    </a:p>
                  </a:txBody>
                  <a:tcPr marL="114300" marR="114300" marT="85725" marB="85725" anchor="ctr">
                    <a:lnR w="9525">
                      <a:solidFill>
                        <a:srgbClr val="D9E1E8"/>
                      </a:solidFill>
                      <a:prstDash val="solid"/>
                    </a:lnR>
                    <a:lnB w="9525">
                      <a:solidFill>
                        <a:srgbClr val="D9E1E8"/>
                      </a:solidFill>
                      <a:prstDash val="solid"/>
                    </a:lnB>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3015F1BC-28CE-4A1E-8910-9375482DE800}"/>
              </a:ext>
            </a:extLst>
          </p:cNvPr>
          <p:cNvSpPr>
            <a:spLocks xmlns:a="http://schemas.openxmlformats.org/drawingml/2006/main" noGrp="1"/>
          </p:cNvSpPr>
          <p:nvPr/>
        </p:nvSpPr>
        <p:spPr>
          <a:xfrm xmlns:a="http://schemas.openxmlformats.org/drawingml/2006/main">
            <a:off x="666750" y="47244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B40"/>
                </a:solidFill>
                <a:latin typeface="Helvetica Neue"/>
                <a:ea typeface="Helvetica Neue"/>
                <a:cs typeface="Helvetica Neue"/>
              </a:defRPr>
            </a:defPPr>
          </a:lstStyle>
          <a:p xmlns:a="http://schemas.openxmlformats.org/drawingml/2006/main">
            <a:pPr>
              <a:defRPr sz="2025" b="0">
                <a:solidFill>
                  <a:srgbClr val="172B40"/>
                </a:solidFill>
                <a:latin typeface="Helvetica Neue"/>
                <a:ea typeface="Helvetica Neue"/>
                <a:cs typeface="Helvetica Neue"/>
              </a:defRPr>
            </a:pPr>
            <a:r>
              <a:rPr sz="2025" b="0">
                <a:solidFill>
                  <a:srgbClr val="172B40"/>
                </a:solidFill>
                <a:latin typeface="Helvetica Neue"/>
                <a:ea typeface="Helvetica Neue"/>
                <a:cs typeface="Helvetica Neue"/>
              </a:rPr>
              <a:t>Vary design, clutter, occlusion, distance and light.</a:t>
            </a:r>
          </a:p>
        </p:txBody>
      </p:sp>
      <p:sp>
        <p:nvSpPr>
          <p:cNvPr id="5" name="">
            <a:extLst xmlns:a="http://schemas.openxmlformats.org/drawingml/2006/main">
              <a:ext uri="{FF2B5EF4-FFF2-40B4-BE49-F238E27FC236}">
                <a16:creationId xmlns:a16="http://schemas.microsoft.com/office/drawing/2014/main" id="{64405FDF-E11E-4277-A934-87967C1056D5}"/>
              </a:ext>
            </a:extLst>
          </p:cNvPr>
          <p:cNvSpPr>
            <a:spLocks xmlns:a="http://schemas.openxmlformats.org/drawingml/2006/main" noGrp="1"/>
          </p:cNvSpPr>
          <p:nvPr/>
        </p:nvSpPr>
        <p:spPr>
          <a:xfrm xmlns:a="http://schemas.openxmlformats.org/drawingml/2006/main">
            <a:off x="666750" y="55054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B40"/>
                </a:solidFill>
                <a:latin typeface="Helvetica Neue"/>
                <a:ea typeface="Helvetica Neue"/>
                <a:cs typeface="Helvetica Neue"/>
              </a:defRPr>
            </a:defPPr>
          </a:lstStyle>
          <a:p xmlns:a="http://schemas.openxmlformats.org/drawingml/2006/main">
            <a:pPr>
              <a:defRPr sz="2025" b="0">
                <a:solidFill>
                  <a:srgbClr val="172B40"/>
                </a:solidFill>
                <a:latin typeface="Helvetica Neue"/>
                <a:ea typeface="Helvetica Neue"/>
                <a:cs typeface="Helvetica Neue"/>
              </a:defRPr>
            </a:pPr>
            <a:r>
              <a:rPr sz="2025" b="0">
                <a:solidFill>
                  <a:srgbClr val="172B40"/>
                </a:solidFill>
                <a:latin typeface="Helvetica Neue"/>
                <a:ea typeface="Helvetica Neue"/>
                <a:cs typeface="Helvetica Neue"/>
              </a:rPr>
              <a:t>Keep photos in the private team Drive and reserve them for testing.</a:t>
            </a:r>
          </a:p>
        </p:txBody>
      </p:sp>
    </p:spTree>
    <p:extLst>
      <p:ext uri="{BB962C8B-B14F-4D97-AF65-F5344CB8AC3E}">
        <p14:creationId xmlns:p14="http://schemas.microsoft.com/office/powerpoint/2010/main" val="16985761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8508B7-B0AC-4041-B762-577DC535CF70}"/>
              </a:ext>
            </a:extLst>
          </p:cNvPr>
          <p:cNvSpPr>
            <a:spLocks xmlns:a="http://schemas.openxmlformats.org/drawingml/2006/main" noGrp="1"/>
          </p:cNvSpPr>
          <p:nvPr/>
        </p:nvSpPr>
        <p:spPr>
          <a:xfrm xmlns:a="http://schemas.openxmlformats.org/drawingml/2006/main">
            <a:off x="609600" y="400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0"/>
                </a:solidFill>
                <a:latin typeface="Helvetica Neue"/>
                <a:ea typeface="Helvetica Neue"/>
                <a:cs typeface="Helvetica Neue"/>
              </a:defRPr>
            </a:defPPr>
          </a:lstStyle>
          <a:p xmlns:a="http://schemas.openxmlformats.org/drawingml/2006/main">
            <a:pPr>
              <a:defRPr sz="3300" b="1">
                <a:solidFill>
                  <a:srgbClr val="172B40"/>
                </a:solidFill>
                <a:latin typeface="Helvetica Neue"/>
                <a:ea typeface="Helvetica Neue"/>
                <a:cs typeface="Helvetica Neue"/>
              </a:defRPr>
            </a:pPr>
            <a:r>
              <a:rPr sz="3300" b="1">
                <a:solidFill>
                  <a:srgbClr val="172B40"/>
                </a:solidFill>
                <a:latin typeface="Helvetica Neue"/>
                <a:ea typeface="Helvetica Neue"/>
                <a:cs typeface="Helvetica Neue"/>
              </a:rPr>
              <a:t>Next milestones</a:t>
            </a:r>
          </a:p>
        </p:txBody>
      </p:sp>
      <p:sp>
        <p:nvSpPr>
          <p:cNvPr id="2" name="">
            <a:extLst xmlns:a="http://schemas.openxmlformats.org/drawingml/2006/main">
              <a:ext uri="{FF2B5EF4-FFF2-40B4-BE49-F238E27FC236}">
                <a16:creationId xmlns:a16="http://schemas.microsoft.com/office/drawing/2014/main" id="{1A351D6B-4434-440C-ABDC-BEDE007744FF}"/>
              </a:ext>
            </a:extLst>
          </p:cNvPr>
          <p:cNvSpPr>
            <a:spLocks xmlns:a="http://schemas.openxmlformats.org/drawingml/2006/main" noGrp="1"/>
          </p:cNvSpPr>
          <p:nvPr/>
        </p:nvSpPr>
        <p:spPr>
          <a:xfrm xmlns:a="http://schemas.openxmlformats.org/drawingml/2006/main">
            <a:off x="609600" y="64484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77A"/>
                </a:solidFill>
                <a:latin typeface="Helvetica Neue"/>
                <a:ea typeface="Helvetica Neue"/>
                <a:cs typeface="Helvetica Neue"/>
              </a:defRPr>
            </a:defPPr>
          </a:lstStyle>
          <a:p xmlns:a="http://schemas.openxmlformats.org/drawingml/2006/main">
            <a:pPr>
              <a:defRPr sz="1350" b="0">
                <a:solidFill>
                  <a:srgbClr val="52677A"/>
                </a:solidFill>
                <a:latin typeface="Helvetica Neue"/>
                <a:ea typeface="Helvetica Neue"/>
                <a:cs typeface="Helvetica Neue"/>
              </a:defRPr>
            </a:pPr>
            <a:r>
              <a:rPr sz="1350" b="0">
                <a:solidFill>
                  <a:srgbClr val="52677A"/>
                </a:solidFill>
                <a:latin typeface="Helvetica Neue"/>
                <a:ea typeface="Helvetica Neue"/>
                <a:cs typeface="Helvetica Neue"/>
              </a:rPr>
              <a:t>CakGo   /   17 October 2026   /   10</a:t>
            </a:r>
          </a:p>
        </p:txBody>
      </p:sp>
      <p:sp>
        <p:nvSpPr>
          <p:cNvPr id="3" name="">
            <a:extLst xmlns:a="http://schemas.openxmlformats.org/drawingml/2006/main">
              <a:ext uri="{FF2B5EF4-FFF2-40B4-BE49-F238E27FC236}">
                <a16:creationId xmlns:a16="http://schemas.microsoft.com/office/drawing/2014/main" id="{FA46AB61-5E04-42BF-83FF-AC76500DB241}"/>
              </a:ext>
            </a:extLst>
          </p:cNvPr>
          <p:cNvSpPr>
            <a:spLocks xmlns:a="http://schemas.openxmlformats.org/drawingml/2006/main" noGrp="1"/>
          </p:cNvSpPr>
          <p:nvPr/>
        </p:nvSpPr>
        <p:spPr>
          <a:xfrm xmlns:a="http://schemas.openxmlformats.org/drawingml/2006/main">
            <a:off x="666750" y="15716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B40"/>
                </a:solidFill>
                <a:latin typeface="Helvetica Neue"/>
                <a:ea typeface="Helvetica Neue"/>
                <a:cs typeface="Helvetica Neue"/>
              </a:defRPr>
            </a:defPPr>
          </a:lstStyle>
          <a:p xmlns:a="http://schemas.openxmlformats.org/drawingml/2006/main">
            <a:pPr>
              <a:defRPr sz="2175" b="0">
                <a:solidFill>
                  <a:srgbClr val="172B40"/>
                </a:solidFill>
                <a:latin typeface="Helvetica Neue"/>
                <a:ea typeface="Helvetica Neue"/>
                <a:cs typeface="Helvetica Neue"/>
              </a:defRPr>
            </a:pPr>
            <a:r>
              <a:rPr sz="2175" b="0">
                <a:solidFill>
                  <a:srgbClr val="172B40"/>
                </a:solidFill>
                <a:latin typeface="Helvetica Neue"/>
                <a:ea typeface="Helvetica Neue"/>
                <a:cs typeface="Helvetica Neue"/>
              </a:rPr>
              <a:t>18 October: review frontend voice PR #8 and test audible Korean on phones.</a:t>
            </a:r>
          </a:p>
        </p:txBody>
      </p:sp>
      <p:sp>
        <p:nvSpPr>
          <p:cNvPr id="4" name="">
            <a:extLst xmlns:a="http://schemas.openxmlformats.org/drawingml/2006/main">
              <a:ext uri="{FF2B5EF4-FFF2-40B4-BE49-F238E27FC236}">
                <a16:creationId xmlns:a16="http://schemas.microsoft.com/office/drawing/2014/main" id="{EC827559-4C1B-4F2A-A346-C620CCC1B72E}"/>
              </a:ext>
            </a:extLst>
          </p:cNvPr>
          <p:cNvSpPr>
            <a:spLocks xmlns:a="http://schemas.openxmlformats.org/drawingml/2006/main" noGrp="1"/>
          </p:cNvSpPr>
          <p:nvPr/>
        </p:nvSpPr>
        <p:spPr>
          <a:xfrm xmlns:a="http://schemas.openxmlformats.org/drawingml/2006/main">
            <a:off x="666750" y="26765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B40"/>
                </a:solidFill>
                <a:latin typeface="Helvetica Neue"/>
                <a:ea typeface="Helvetica Neue"/>
                <a:cs typeface="Helvetica Neue"/>
              </a:defRPr>
            </a:defPPr>
          </a:lstStyle>
          <a:p xmlns:a="http://schemas.openxmlformats.org/drawingml/2006/main">
            <a:pPr>
              <a:defRPr sz="2175" b="0">
                <a:solidFill>
                  <a:srgbClr val="172B40"/>
                </a:solidFill>
                <a:latin typeface="Helvetica Neue"/>
                <a:ea typeface="Helvetica Neue"/>
                <a:cs typeface="Helvetica Neue"/>
              </a:defRPr>
            </a:pPr>
            <a:r>
              <a:rPr sz="2175" b="0">
                <a:solidFill>
                  <a:srgbClr val="172B40"/>
                </a:solidFill>
                <a:latin typeface="Helvetica Neue"/>
                <a:ea typeface="Helvetica Neue"/>
                <a:cs typeface="Helvetica Neue"/>
              </a:rPr>
              <a:t>19 October: confirm all 84 photos, review labels and preserve the test-only set.</a:t>
            </a:r>
          </a:p>
        </p:txBody>
      </p:sp>
      <p:sp>
        <p:nvSpPr>
          <p:cNvPr id="5" name="">
            <a:extLst xmlns:a="http://schemas.openxmlformats.org/drawingml/2006/main">
              <a:ext uri="{FF2B5EF4-FFF2-40B4-BE49-F238E27FC236}">
                <a16:creationId xmlns:a16="http://schemas.microsoft.com/office/drawing/2014/main" id="{F280BD3A-793F-4711-BA41-AA25BF5081D7}"/>
              </a:ext>
            </a:extLst>
          </p:cNvPr>
          <p:cNvSpPr>
            <a:spLocks xmlns:a="http://schemas.openxmlformats.org/drawingml/2006/main" noGrp="1"/>
          </p:cNvSpPr>
          <p:nvPr/>
        </p:nvSpPr>
        <p:spPr>
          <a:xfrm xmlns:a="http://schemas.openxmlformats.org/drawingml/2006/main">
            <a:off x="666750" y="37814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B40"/>
                </a:solidFill>
                <a:latin typeface="Helvetica Neue"/>
                <a:ea typeface="Helvetica Neue"/>
                <a:cs typeface="Helvetica Neue"/>
              </a:defRPr>
            </a:defPPr>
          </a:lstStyle>
          <a:p xmlns:a="http://schemas.openxmlformats.org/drawingml/2006/main">
            <a:pPr>
              <a:defRPr sz="2175" b="0">
                <a:solidFill>
                  <a:srgbClr val="172B40"/>
                </a:solidFill>
                <a:latin typeface="Helvetica Neue"/>
                <a:ea typeface="Helvetica Neue"/>
                <a:cs typeface="Helvetica Neue"/>
              </a:defRPr>
            </a:pPr>
            <a:r>
              <a:rPr sz="2175" b="0">
                <a:solidFill>
                  <a:srgbClr val="172B40"/>
                </a:solidFill>
                <a:latin typeface="Helvetica Neue"/>
                <a:ea typeface="Helvetica Neue"/>
                <a:cs typeface="Helvetica Neue"/>
              </a:rPr>
              <a:t>Then: compare both models on the same phone photos and deployment hardware.</a:t>
            </a:r>
          </a:p>
        </p:txBody>
      </p:sp>
      <p:sp>
        <p:nvSpPr>
          <p:cNvPr id="6" name="">
            <a:extLst xmlns:a="http://schemas.openxmlformats.org/drawingml/2006/main">
              <a:ext uri="{FF2B5EF4-FFF2-40B4-BE49-F238E27FC236}">
                <a16:creationId xmlns:a16="http://schemas.microsoft.com/office/drawing/2014/main" id="{282B20EA-5C17-453F-A887-FDF161C3D960}"/>
              </a:ext>
            </a:extLst>
          </p:cNvPr>
          <p:cNvSpPr>
            <a:spLocks xmlns:a="http://schemas.openxmlformats.org/drawingml/2006/main" noGrp="1"/>
          </p:cNvSpPr>
          <p:nvPr/>
        </p:nvSpPr>
        <p:spPr>
          <a:xfrm xmlns:a="http://schemas.openxmlformats.org/drawingml/2006/main">
            <a:off x="666750" y="48863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B40"/>
                </a:solidFill>
                <a:latin typeface="Helvetica Neue"/>
                <a:ea typeface="Helvetica Neue"/>
                <a:cs typeface="Helvetica Neue"/>
              </a:defRPr>
            </a:defPPr>
          </a:lstStyle>
          <a:p xmlns:a="http://schemas.openxmlformats.org/drawingml/2006/main">
            <a:pPr>
              <a:defRPr sz="2175" b="0">
                <a:solidFill>
                  <a:srgbClr val="172B40"/>
                </a:solidFill>
                <a:latin typeface="Helvetica Neue"/>
                <a:ea typeface="Helvetica Neue"/>
                <a:cs typeface="Helvetica Neue"/>
              </a:defRPr>
            </a:pPr>
            <a:r>
              <a:rPr sz="2175" b="0">
                <a:solidFill>
                  <a:srgbClr val="172B40"/>
                </a:solidFill>
                <a:latin typeface="Helvetica Neue"/>
                <a:ea typeface="Helvetica Neue"/>
                <a:cs typeface="Helvetica Neue"/>
              </a:rPr>
              <a:t>The team selects the final model and thresholds after reviewing the evidence.</a:t>
            </a:r>
          </a:p>
        </p:txBody>
      </p:sp>
    </p:spTree>
    <p:extLst>
      <p:ext uri="{BB962C8B-B14F-4D97-AF65-F5344CB8AC3E}">
        <p14:creationId xmlns:p14="http://schemas.microsoft.com/office/powerpoint/2010/main" val="8731513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BD8A8C-1BA6-41FB-B843-5500E98387BD}"/>
              </a:ext>
            </a:extLst>
          </p:cNvPr>
          <p:cNvSpPr>
            <a:spLocks xmlns:a="http://schemas.openxmlformats.org/drawingml/2006/main" noGrp="1"/>
          </p:cNvSpPr>
          <p:nvPr/>
        </p:nvSpPr>
        <p:spPr>
          <a:xfrm xmlns:a="http://schemas.openxmlformats.org/drawingml/2006/main">
            <a:off x="609600" y="400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0"/>
                </a:solidFill>
                <a:latin typeface="Helvetica Neue"/>
                <a:ea typeface="Helvetica Neue"/>
                <a:cs typeface="Helvetica Neue"/>
              </a:defRPr>
            </a:defPPr>
          </a:lstStyle>
          <a:p xmlns:a="http://schemas.openxmlformats.org/drawingml/2006/main">
            <a:pPr>
              <a:defRPr sz="3300" b="1">
                <a:solidFill>
                  <a:srgbClr val="172B40"/>
                </a:solidFill>
                <a:latin typeface="Helvetica Neue"/>
                <a:ea typeface="Helvetica Neue"/>
                <a:cs typeface="Helvetica Neue"/>
              </a:defRPr>
            </a:pPr>
            <a:r>
              <a:rPr sz="3300" b="1">
                <a:solidFill>
                  <a:srgbClr val="172B40"/>
                </a:solidFill>
                <a:latin typeface="Helvetica Neue"/>
                <a:ea typeface="Helvetica Neue"/>
                <a:cs typeface="Helvetica Neue"/>
              </a:rPr>
              <a:t>Appendix: the saved training run</a:t>
            </a:r>
          </a:p>
        </p:txBody>
      </p:sp>
      <p:sp>
        <p:nvSpPr>
          <p:cNvPr id="2" name="">
            <a:extLst xmlns:a="http://schemas.openxmlformats.org/drawingml/2006/main">
              <a:ext uri="{FF2B5EF4-FFF2-40B4-BE49-F238E27FC236}">
                <a16:creationId xmlns:a16="http://schemas.microsoft.com/office/drawing/2014/main" id="{F863CC7A-D331-49D4-8C57-6999241232EB}"/>
              </a:ext>
            </a:extLst>
          </p:cNvPr>
          <p:cNvSpPr>
            <a:spLocks xmlns:a="http://schemas.openxmlformats.org/drawingml/2006/main" noGrp="1"/>
          </p:cNvSpPr>
          <p:nvPr/>
        </p:nvSpPr>
        <p:spPr>
          <a:xfrm xmlns:a="http://schemas.openxmlformats.org/drawingml/2006/main">
            <a:off x="609600" y="64484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77A"/>
                </a:solidFill>
                <a:latin typeface="Helvetica Neue"/>
                <a:ea typeface="Helvetica Neue"/>
                <a:cs typeface="Helvetica Neue"/>
              </a:defRPr>
            </a:defPPr>
          </a:lstStyle>
          <a:p xmlns:a="http://schemas.openxmlformats.org/drawingml/2006/main">
            <a:pPr>
              <a:defRPr sz="1350" b="0">
                <a:solidFill>
                  <a:srgbClr val="52677A"/>
                </a:solidFill>
                <a:latin typeface="Helvetica Neue"/>
                <a:ea typeface="Helvetica Neue"/>
                <a:cs typeface="Helvetica Neue"/>
              </a:defRPr>
            </a:pPr>
            <a:r>
              <a:rPr sz="1350" b="0">
                <a:solidFill>
                  <a:srgbClr val="52677A"/>
                </a:solidFill>
                <a:latin typeface="Helvetica Neue"/>
                <a:ea typeface="Helvetica Neue"/>
                <a:cs typeface="Helvetica Neue"/>
              </a:rPr>
              <a:t>CakGo   /   17 October 2026   /   11</a:t>
            </a:r>
          </a:p>
        </p:txBody>
      </p:sp>
      <p:pic>
        <p:nvPicPr>
          <p:cNvPr id="3" name="">
            <a:extLst xmlns:a="http://schemas.openxmlformats.org/drawingml/2006/main">
              <a:ext uri="{FF2B5EF4-FFF2-40B4-BE49-F238E27FC236}">
                <a16:creationId xmlns:a16="http://schemas.microsoft.com/office/drawing/2014/main" id="{876184DA-30F6-4CC9-90BC-E4712E4E078B}"/>
              </a:ext>
            </a:extLst>
          </p:cNvPr>
          <p:cNvPicPr>
            <a:picLocks xmlns:a="http://schemas.openxmlformats.org/drawingml/2006/main" noChangeAspect="1"/>
          </p:cNvPicPr>
          <p:nvPr/>
        </p:nvPicPr>
        <p:blipFill>
          <a:blip xmlns:r="http://schemas.openxmlformats.org/officeDocument/2006/relationships" xmlns:a="http://schemas.openxmlformats.org/drawingml/2006/main" r:embed="Rd57b6c506fcb4a07"/>
          <a:stretch xmlns:a="http://schemas.openxmlformats.org/drawingml/2006/main"/>
        </p:blipFill>
        <p:spPr>
          <a:xfrm xmlns:a="http://schemas.openxmlformats.org/drawingml/2006/main">
            <a:off x="2409825" y="1495425"/>
            <a:ext cx="7372350" cy="36861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7EF6B57-C9B0-4D71-BD4C-8E2205E69CB0}"/>
              </a:ext>
            </a:extLst>
          </p:cNvPr>
          <p:cNvSpPr>
            <a:spLocks xmlns:a="http://schemas.openxmlformats.org/drawingml/2006/main" noGrp="1"/>
          </p:cNvSpPr>
          <p:nvPr/>
        </p:nvSpPr>
        <p:spPr>
          <a:xfrm xmlns:a="http://schemas.openxmlformats.org/drawingml/2006/main">
            <a:off x="666750" y="53911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C83"/>
                </a:solidFill>
                <a:latin typeface="Helvetica Neue"/>
                <a:ea typeface="Helvetica Neue"/>
                <a:cs typeface="Helvetica Neue"/>
              </a:defRPr>
            </a:defPPr>
          </a:lstStyle>
          <a:p xmlns:a="http://schemas.openxmlformats.org/drawingml/2006/main">
            <a:pPr>
              <a:defRPr sz="2025" b="1">
                <a:solidFill>
                  <a:srgbClr val="007C83"/>
                </a:solidFill>
                <a:latin typeface="Helvetica Neue"/>
                <a:ea typeface="Helvetica Neue"/>
                <a:cs typeface="Helvetica Neue"/>
              </a:defRPr>
            </a:pPr>
            <a:r>
              <a:rPr sz="2025" b="1">
                <a:solidFill>
                  <a:srgbClr val="007C83"/>
                </a:solidFill>
                <a:latin typeface="Helvetica Neue"/>
                <a:ea typeface="Helvetica Neue"/>
                <a:cs typeface="Helvetica Neue"/>
              </a:rPr>
              <a:t>6,514 train images and 1,536 validation images after filtering.</a:t>
            </a:r>
          </a:p>
        </p:txBody>
      </p:sp>
      <p:sp>
        <p:nvSpPr>
          <p:cNvPr id="5" name="">
            <a:extLst xmlns:a="http://schemas.openxmlformats.org/drawingml/2006/main">
              <a:ext uri="{FF2B5EF4-FFF2-40B4-BE49-F238E27FC236}">
                <a16:creationId xmlns:a16="http://schemas.microsoft.com/office/drawing/2014/main" id="{9703E77D-BF51-4D5D-AA92-EF2FA06C66D4}"/>
              </a:ext>
            </a:extLst>
          </p:cNvPr>
          <p:cNvSpPr>
            <a:spLocks xmlns:a="http://schemas.openxmlformats.org/drawingml/2006/main" noGrp="1"/>
          </p:cNvSpPr>
          <p:nvPr/>
        </p:nvSpPr>
        <p:spPr>
          <a:xfrm xmlns:a="http://schemas.openxmlformats.org/drawingml/2006/main">
            <a:off x="666750" y="58769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7A"/>
                </a:solidFill>
                <a:latin typeface="Helvetica Neue"/>
                <a:ea typeface="Helvetica Neue"/>
                <a:cs typeface="Helvetica Neue"/>
              </a:defRPr>
            </a:defPPr>
          </a:lstStyle>
          <a:p xmlns:a="http://schemas.openxmlformats.org/drawingml/2006/main">
            <a:pPr>
              <a:defRPr sz="1800" b="0">
                <a:solidFill>
                  <a:srgbClr val="52677A"/>
                </a:solidFill>
                <a:latin typeface="Helvetica Neue"/>
                <a:ea typeface="Helvetica Neue"/>
                <a:cs typeface="Helvetica Neue"/>
              </a:defRPr>
            </a:pPr>
            <a:r>
              <a:rPr sz="1800" b="0">
                <a:solidFill>
                  <a:srgbClr val="52677A"/>
                </a:solidFill>
                <a:latin typeface="Helvetica Neue"/>
                <a:ea typeface="Helvetica Neue"/>
                <a:cs typeface="Helvetica Neue"/>
              </a:rPr>
              <a:t>Validation curves describe the validation split, not the new phone test.</a:t>
            </a:r>
          </a:p>
        </p:txBody>
      </p:sp>
    </p:spTree>
    <p:extLst>
      <p:ext uri="{BB962C8B-B14F-4D97-AF65-F5344CB8AC3E}">
        <p14:creationId xmlns:p14="http://schemas.microsoft.com/office/powerpoint/2010/main" val="19239519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2026-10-17T11:53:10.3840000Z</dcterms:created>
  <dcterms:modified xsi:type="dcterms:W3CDTF">2026-10-17T11:53:10.3840000Z</dcterms:modified>
</coreProperties>
</file>